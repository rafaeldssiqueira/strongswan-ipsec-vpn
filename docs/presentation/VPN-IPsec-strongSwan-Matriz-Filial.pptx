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"/>
      <p:regular r:id="rId12"/>
      <p:bold r:id="rId13"/>
      <p:italic r:id="rId14"/>
      <p:boldItalic r:id="rId15"/>
    </p:embeddedFont>
    <p:embeddedFont>
      <p:font typeface="JetBrains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usJakartaSans-bold.fntdata"/><Relationship Id="rId12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italic.fntdata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3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10" Type="http://schemas.openxmlformats.org/officeDocument/2006/relationships/image" Target="../media/image35.png"/><Relationship Id="rId9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2950368"/>
            <a:ext cx="9144000" cy="655141"/>
          </a:xfrm>
          <a:prstGeom prst="roundRect">
            <a:avLst>
              <a:gd fmla="val 8723" name="adj"/>
            </a:avLst>
          </a:prstGeom>
          <a:solidFill>
            <a:srgbClr val="171D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950368"/>
            <a:ext cx="28575" cy="655141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3834110"/>
            <a:ext cx="3429000" cy="1466850"/>
          </a:xfrm>
          <a:prstGeom prst="roundRect">
            <a:avLst>
              <a:gd fmla="val 6493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381500" y="3834110"/>
            <a:ext cx="3429000" cy="1466850"/>
          </a:xfrm>
          <a:prstGeom prst="roundRect">
            <a:avLst>
              <a:gd fmla="val 6493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001000" y="3834110"/>
            <a:ext cx="3429000" cy="1466850"/>
          </a:xfrm>
          <a:prstGeom prst="roundRect">
            <a:avLst>
              <a:gd fmla="val 6493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416968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2521743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125" y="407223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9625" y="407223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39125" y="40722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762000" y="1556891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ENGENHARIA DE REDES &amp; SEGURANÇA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62000" y="1823591"/>
            <a:ext cx="11430000" cy="46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VPN IPsec strongSwan: Matriz × Filial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62025" y="3064668"/>
            <a:ext cx="88677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do Projeto: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Interligar com segurança, escalabilidade e custo zero de royalties as redes corporativas da Matriz e Filial, implementando IKEv2 puro com criptografia AES-256 e validação em Rocky Linux.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238250" y="2422773"/>
            <a:ext cx="3750468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Rafael da Silva Siqueira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238250" y="2624583"/>
            <a:ext cx="3750468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Analista de Infraestrutura e Implantação de Sistemas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00125" y="4415135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Criptografia em Trânsito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000125" y="4700885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Blindagem AES-256 de ponta a ponta sobre links públicos.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619625" y="4415135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Vantagem Open Source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619625" y="4700885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royalties com strongSwan e independência de fornecedor.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239125" y="4415135"/>
            <a:ext cx="38754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Redução de CapEx &amp; OpEx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239125" y="4700885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 appliances dedicados de alto custo e taxas de licença por túnel.</a:t>
            </a:r>
            <a:endParaRPr/>
          </a:p>
        </p:txBody>
      </p:sp>
      <p:pic>
        <p:nvPicPr>
          <p:cNvPr id="105" name="Google Shape;105;p13" title="Gemini_Generated_Image_9kh35e9kh35e9kh3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6789"/>
            <a:ext cx="12192000" cy="6804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762000" y="1028700"/>
            <a:ext cx="10668000" cy="563760"/>
          </a:xfrm>
          <a:prstGeom prst="roundRect">
            <a:avLst>
              <a:gd fmla="val 135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62000" y="2830710"/>
            <a:ext cx="10668000" cy="361950"/>
          </a:xfrm>
          <a:prstGeom prst="roundRect">
            <a:avLst>
              <a:gd fmla="val 21052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62000" y="3326025"/>
            <a:ext cx="10668000" cy="33558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762000" y="1028700"/>
            <a:ext cx="38100" cy="563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762000" y="1725810"/>
            <a:ext cx="4705350" cy="99060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724650" y="1725810"/>
            <a:ext cx="4705350" cy="990600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172051" y="2935485"/>
            <a:ext cx="9525" cy="1524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695950" y="2121098"/>
            <a:ext cx="22860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267450" y="2121098"/>
            <a:ext cx="22860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9801225" y="3473648"/>
            <a:ext cx="1419225" cy="190500"/>
          </a:xfrm>
          <a:prstGeom prst="roundRect">
            <a:avLst>
              <a:gd fmla="val 2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345936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37" y="356413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190678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0" y="203537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4675" y="190678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762000" y="3429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ESPECIFICAÇÃO TÉCNICA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62000" y="552450"/>
            <a:ext cx="11430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Topologia de Rede &amp; Parâmetros de Borda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52500" y="1123950"/>
            <a:ext cx="10420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Cenário Operacional: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Interconexão ponto a ponto de dois gateways Rocky Linux 9 virtualizados sob KVM, estabelecendo túnel seguro entre as sub-redes corporativas com roteamento e filtragem de borda dedicados.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520725" y="2925960"/>
            <a:ext cx="43457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TS:</a:t>
            </a:r>
            <a:r>
              <a:rPr b="0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192.168.10.0/24 ⇄ </a:t>
            </a: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Remote TS:</a:t>
            </a:r>
            <a:r>
              <a:rPr b="0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192.168.20.0/24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356276" y="2925960"/>
            <a:ext cx="4143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Virtualização:</a:t>
            </a:r>
            <a:r>
              <a:rPr b="0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KVM / Virt-Manager | </a:t>
            </a: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OS:</a:t>
            </a:r>
            <a:r>
              <a:rPr b="0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Rocky Linux 9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962025" y="2173485"/>
            <a:ext cx="538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192.168.10.1/24 (enp1s0)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962025" y="2383035"/>
            <a:ext cx="538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192.168.122.24 (enp2s0)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5643562" y="2263973"/>
            <a:ext cx="904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IKEv2 / ESP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924675" y="2173485"/>
            <a:ext cx="5267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192.168.20.1/24 (enp1s0)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924675" y="2383035"/>
            <a:ext cx="5267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192.168.122.48 (enp2s0)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1228725" y="1887735"/>
            <a:ext cx="167520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gateway-matriz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7191375" y="1887735"/>
            <a:ext cx="146018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gateway-filial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524000" y="3483173"/>
            <a:ext cx="564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9877425" y="3492698"/>
            <a:ext cx="1362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ip -br a • KVM Topo</a:t>
            </a:r>
            <a:endParaRPr/>
          </a:p>
        </p:txBody>
      </p:sp>
      <p:pic>
        <p:nvPicPr>
          <p:cNvPr id="139" name="Google Shape;13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2025" y="3616500"/>
            <a:ext cx="10277475" cy="115252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00" y="5288125"/>
            <a:ext cx="10277475" cy="1066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762000" y="1162050"/>
            <a:ext cx="10668000" cy="828675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762000" y="4305300"/>
            <a:ext cx="10668000" cy="21348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62000" y="1162050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762000" y="2162175"/>
            <a:ext cx="4643437" cy="1971675"/>
          </a:xfrm>
          <a:prstGeom prst="roundRect">
            <a:avLst>
              <a:gd fmla="val 4830" name="adj"/>
            </a:avLst>
          </a:prstGeom>
          <a:solidFill>
            <a:srgbClr val="F0F9FF"/>
          </a:solidFill>
          <a:ln cap="flat" cmpd="sng" w="9525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6786562" y="2162175"/>
            <a:ext cx="4643437" cy="1971675"/>
          </a:xfrm>
          <a:prstGeom prst="roundRect">
            <a:avLst>
              <a:gd fmla="val 48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8837" y="44767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987" y="29432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33612" y="45815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239553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3737" y="239553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762000" y="4191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CONCEITO FUNDAMENTAL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62000" y="6477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Relação Pai &amp; Filho no Túnel IPsec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71550" y="1276350"/>
            <a:ext cx="103822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Conceito Arquitetural: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protocolo IKEv2 opera em modelo de duas camadas. O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Túnel Pai (IKE SA)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é o canal de gestão criptografado responsável pela autenticação mútua e negociação de chaves, enquanto o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Túnel Filho (Child SA)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é a via operacional (ESP) encarregada de encapsular e proteger o tráfego de dados corporativos entre as sub-redes.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019175" y="2714625"/>
            <a:ext cx="4224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Função: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Canal de gestão e controle administrativo blindado.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019175" y="3133725"/>
            <a:ext cx="4224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Missão: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Autenticar os dois gateways e negociar parâmetros criptográficos.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019175" y="3552825"/>
            <a:ext cx="4224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Tráfego: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Restrito a mensagens de controle (portas UDP 500/4500).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529262" y="3209925"/>
            <a:ext cx="11334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Gera &amp; Protege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7043737" y="2714625"/>
            <a:ext cx="4224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Função: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Rodovia de transporte real de dados (Protocolo ESP).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7043737" y="3133725"/>
            <a:ext cx="4224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Missão: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Criptografar e garantir integridade nos pacotes das LANs.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7043737" y="3552825"/>
            <a:ext cx="42243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Escalabilidade: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Suporta múltiplos filhos sob uma única aliança pai.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2700337" y="4510087"/>
            <a:ext cx="920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381125" y="2381250"/>
            <a:ext cx="20877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Túnel Pai (IKE SA)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7348537" y="2381250"/>
            <a:ext cx="253781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Túnel Filho (Child SA)</a:t>
            </a:r>
            <a:endParaRPr/>
          </a:p>
        </p:txBody>
      </p:sp>
      <p:pic>
        <p:nvPicPr>
          <p:cNvPr id="168" name="Google Shape;16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100" y="4305300"/>
            <a:ext cx="10601326" cy="213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762000" y="1028700"/>
            <a:ext cx="10668000" cy="750391"/>
          </a:xfrm>
          <a:prstGeom prst="roundRect">
            <a:avLst>
              <a:gd fmla="val 1015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762000" y="3436441"/>
            <a:ext cx="10668000" cy="723900"/>
          </a:xfrm>
          <a:prstGeom prst="roundRect">
            <a:avLst>
              <a:gd fmla="val 13157" name="adj"/>
            </a:avLst>
          </a:prstGeom>
          <a:solidFill>
            <a:srgbClr val="0F172A"/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62000" y="1028700"/>
            <a:ext cx="38100" cy="750391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762000" y="1912441"/>
            <a:ext cx="3454449" cy="1390650"/>
          </a:xfrm>
          <a:prstGeom prst="roundRect">
            <a:avLst>
              <a:gd fmla="val 68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368849" y="1912441"/>
            <a:ext cx="3454449" cy="1390650"/>
          </a:xfrm>
          <a:prstGeom prst="roundRect">
            <a:avLst>
              <a:gd fmla="val 68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975699" y="1912441"/>
            <a:ext cx="3454449" cy="1390650"/>
          </a:xfrm>
          <a:prstGeom prst="roundRect">
            <a:avLst>
              <a:gd fmla="val 68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9134475" y="3603128"/>
            <a:ext cx="2085975" cy="190500"/>
          </a:xfrm>
          <a:prstGeom prst="roundRect">
            <a:avLst>
              <a:gd fmla="val 20000" name="adj"/>
            </a:avLst>
          </a:prstGeom>
          <a:solidFill>
            <a:srgbClr val="1328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3588841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207436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8874" y="207436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5724" y="207436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1562" y="3703141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762000" y="3429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IMPLEMENTAÇÃO PRÁTICA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762000" y="552450"/>
            <a:ext cx="11430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1: Estabelecendo a Aliança Pai (IKE SA)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952500" y="1123950"/>
            <a:ext cx="104203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Importância da Fase 1: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Cria o canal administrativo blindado para gerar chaves sem expor segredos. O algoritmo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AES-256 + Diffie-Hellman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assegura confidencialidade e integridade mútua. O ciclo de renovação (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rekey_time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rotaciona as chaves periodicamente para limitar a janela de exposição contra ataques, enquanto a liberação da porta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UDP 500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(IKE padrão) e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UDP 4500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(NAT-Traversal / NAT-T) garante a transposição transparente de roteadores e firewalls intermediários.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62025" y="2341066"/>
            <a:ext cx="400889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Portas &amp; Autenticação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62025" y="26077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UDP 500: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Canal padrão de negociação IKEv2.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962025" y="27982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UDP 4500: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NAT-T contra quebra de portas.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962025" y="29887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Credencial PSK: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Permissão restrita chmod 600.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4568874" y="2341066"/>
            <a:ext cx="400889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 &amp; Cifra IKE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4568874" y="26077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Confidencialidade: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AES-CBC-256 no controle.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568874" y="27982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Integridade: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HMAC-SHA2-256 anti-adulteração.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4568874" y="29887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Diffie-Hellman: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MODP-1024 para chave secreta.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8175724" y="2341066"/>
            <a:ext cx="400889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 de Renovação (Rekey)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8175724" y="26077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 de Vida: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rekey_time = 3600s (1 hora).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8175724" y="27982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Mitigação: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Encurta a janela de criptoanálise.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8175724" y="2988766"/>
            <a:ext cx="381799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Alta Disponibilidade: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Sem queda de sessão.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1562100" y="3612653"/>
            <a:ext cx="52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9210675" y="3622178"/>
            <a:ext cx="2028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Portas 500/4500 • ESTABLISHED</a:t>
            </a:r>
            <a:endParaRPr/>
          </a:p>
        </p:txBody>
      </p:sp>
      <p:pic>
        <p:nvPicPr>
          <p:cNvPr id="202" name="Google Shape;20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100" y="3436450"/>
            <a:ext cx="106300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/>
        </p:nvSpPr>
        <p:spPr>
          <a:xfrm>
            <a:off x="762000" y="904875"/>
            <a:ext cx="10668000" cy="563760"/>
          </a:xfrm>
          <a:prstGeom prst="roundRect">
            <a:avLst>
              <a:gd fmla="val 1351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762000" y="904875"/>
            <a:ext cx="38100" cy="563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762000" y="1582935"/>
            <a:ext cx="3467100" cy="1285875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4362450" y="1582935"/>
            <a:ext cx="3467100" cy="1285875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7962900" y="1582935"/>
            <a:ext cx="3467100" cy="1285875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762000" y="2964060"/>
            <a:ext cx="5267325" cy="863351"/>
          </a:xfrm>
          <a:prstGeom prst="roundRect">
            <a:avLst>
              <a:gd fmla="val 8826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6162675" y="2964060"/>
            <a:ext cx="5267325" cy="863351"/>
          </a:xfrm>
          <a:prstGeom prst="roundRect">
            <a:avLst>
              <a:gd fmla="val 8826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762000" y="3817887"/>
            <a:ext cx="5267325" cy="9525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762000" y="2964060"/>
            <a:ext cx="5267325" cy="9525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762000" y="2964060"/>
            <a:ext cx="38100" cy="863351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019800" y="2964060"/>
            <a:ext cx="9525" cy="863351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6162675" y="3817887"/>
            <a:ext cx="5267325" cy="9525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6162675" y="2964060"/>
            <a:ext cx="5267325" cy="9525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6162675" y="2964060"/>
            <a:ext cx="38100" cy="863351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11420475" y="2964060"/>
            <a:ext cx="9525" cy="863351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9286875" y="4070300"/>
            <a:ext cx="1952625" cy="171450"/>
          </a:xfrm>
          <a:prstGeom prst="roundRect">
            <a:avLst>
              <a:gd fmla="val 22222" name="adj"/>
            </a:avLst>
          </a:prstGeom>
          <a:solidFill>
            <a:srgbClr val="1328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40560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5" y="174486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3425" y="174486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3875" y="174486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" y="33099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33099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7750" y="416078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/>
        </p:nvSpPr>
        <p:spPr>
          <a:xfrm>
            <a:off x="762000" y="2667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ENGENHARIA DE DADOS &amp; OPERAÇÃO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762000" y="476250"/>
            <a:ext cx="11430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 na Prática: O Túnel Filho em Produção (Child SA)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952500" y="1000125"/>
            <a:ext cx="104203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Operação do Plano de Dados: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Túnel Filho é onde trafegam os pacotes reais entre as sub-redes das LANs corporativas, protegidos pelo protocolo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 em modo Tunnel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A suíte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AES-256 + HMAC-SHA256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garante integridade e sigilo contínuos, com políticas de tráfego injetadas diretamente na tabela XFRM do Kernel.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942975" y="1973460"/>
            <a:ext cx="40755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Cifra ESP &amp; Modo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942975" y="2211585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Modo: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Tunnel (cabeçalho IP ocultado).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942975" y="2392560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Suite: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aes256-sha256-modp1024.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942975" y="2573535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Vida útil: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rekey_time = 86400s (24h).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4543425" y="1973460"/>
            <a:ext cx="40755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Seletores de Tráfego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4543425" y="2211585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TS: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192.168.10.0/24 (LAN Matriz).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543425" y="2392560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Remote TS: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192.168.20.0/24 (LAN Filial).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4543425" y="2573535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Roteamento: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Políticas XFRM no Kernel.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8143875" y="1973460"/>
            <a:ext cx="4048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Ajustes de Desempenho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8143875" y="2211585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MSS Clamping: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Prevenção de fragmentação.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8143875" y="2392560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Replay Window: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Proteção contra replay attacks.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8143875" y="2573535"/>
            <a:ext cx="38814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Isolamento:</a:t>
            </a: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UP/DOWN scripts nativos.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1485900" y="4270325"/>
            <a:ext cx="1070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1219200" y="3059310"/>
            <a:ext cx="5834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Observação 1: Definição de Lado Ativo × Passivo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1219200" y="3230760"/>
            <a:ext cx="4762500" cy="501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configurar a Matriz como </a:t>
            </a:r>
            <a:r>
              <a:rPr b="1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iniciadora ativa</a:t>
            </a: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(start_action = start) e a Filial como </a:t>
            </a:r>
            <a:r>
              <a:rPr b="1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passiva sob demanda</a:t>
            </a: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(start_action = trap), eliminando concorrência ou duplicação de SAs.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6619875" y="3059310"/>
            <a:ext cx="5572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Observação 2: Governança do Restart pós-Queda (DPD)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6619875" y="3230760"/>
            <a:ext cx="4762500" cy="501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 possível eleger exatamente qual ponta assumirá a responsabilidade de executar a reconexão automática com dpd_action = restart (ou limpar com clear), evitando loops de renegociação simultânea.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1485900" y="4079825"/>
            <a:ext cx="558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9363075" y="4089350"/>
            <a:ext cx="18954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ESP INSTALLED • Modo Tunnel</a:t>
            </a:r>
            <a:endParaRPr/>
          </a:p>
        </p:txBody>
      </p:sp>
      <p:pic>
        <p:nvPicPr>
          <p:cNvPr id="252" name="Google Shape;252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2950" y="4065525"/>
            <a:ext cx="107061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/>
          <p:nvPr/>
        </p:nvSpPr>
        <p:spPr>
          <a:xfrm>
            <a:off x="733425" y="1009947"/>
            <a:ext cx="10820400" cy="827700"/>
          </a:xfrm>
          <a:prstGeom prst="roundRect">
            <a:avLst>
              <a:gd fmla="val 920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685800" y="1912226"/>
            <a:ext cx="10820400" cy="4004400"/>
          </a:xfrm>
          <a:prstGeom prst="roundRect">
            <a:avLst>
              <a:gd fmla="val 5714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66775" y="2050072"/>
            <a:ext cx="10458600" cy="3866700"/>
          </a:xfrm>
          <a:prstGeom prst="roundRect">
            <a:avLst>
              <a:gd fmla="val 6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85800" y="6067276"/>
            <a:ext cx="3638550" cy="485775"/>
          </a:xfrm>
          <a:prstGeom prst="roundRect">
            <a:avLst>
              <a:gd fmla="val 1568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4457700" y="6067276"/>
            <a:ext cx="4114800" cy="485775"/>
          </a:xfrm>
          <a:prstGeom prst="roundRect">
            <a:avLst>
              <a:gd fmla="val 1568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8705850" y="6081563"/>
            <a:ext cx="2800350" cy="457200"/>
          </a:xfrm>
          <a:prstGeom prst="roundRect">
            <a:avLst>
              <a:gd fmla="val 16666" name="adj"/>
            </a:avLst>
          </a:prstGeom>
          <a:solidFill>
            <a:srgbClr val="151D2E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7867650" y="352425"/>
            <a:ext cx="1323975" cy="476250"/>
          </a:xfrm>
          <a:prstGeom prst="roundRect">
            <a:avLst>
              <a:gd fmla="val 16000" name="adj"/>
            </a:avLst>
          </a:prstGeom>
          <a:solidFill>
            <a:srgbClr val="102236"/>
          </a:solidFill>
          <a:ln cap="flat" cmpd="sng" w="9525">
            <a:solidFill>
              <a:srgbClr val="1945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9305925" y="352425"/>
            <a:ext cx="2200275" cy="476250"/>
          </a:xfrm>
          <a:prstGeom prst="roundRect">
            <a:avLst>
              <a:gd fmla="val 16000" name="adj"/>
            </a:avLst>
          </a:prstGeom>
          <a:solidFill>
            <a:srgbClr val="11262A"/>
          </a:solidFill>
          <a:ln cap="flat" cmpd="sng" w="9525">
            <a:solidFill>
              <a:srgbClr val="1E4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8772525" y="3628578"/>
            <a:ext cx="2552700" cy="171450"/>
          </a:xfrm>
          <a:prstGeom prst="roundRect">
            <a:avLst>
              <a:gd fmla="val 22222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866775" y="3666678"/>
            <a:ext cx="95250" cy="9525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1019175" y="3666678"/>
            <a:ext cx="95250" cy="9525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1171575" y="3666678"/>
            <a:ext cx="95250" cy="952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75" y="6195863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75" y="6205388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48725" y="621491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 txBox="1"/>
          <p:nvPr/>
        </p:nvSpPr>
        <p:spPr>
          <a:xfrm>
            <a:off x="866775" y="1133809"/>
            <a:ext cx="105537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 de Segurança em Ambientes Distintos: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túnel IPsec IKEv2 atua de forma agnóstica à infraestrutura física, blindando o tráfego corporativo através de redes públicas e nuvens híbridas. A suíte AES-256 com HMAC-SHA256 e PFS garante confidencialidade e integridade absolutas de ponta a ponta, assegurando 0% de perda e total inviolabilidade da topologia interna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685800" y="304800"/>
            <a:ext cx="7096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 &amp; VALIDAÇÃO OPERACIONAL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85800" y="495300"/>
            <a:ext cx="74509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Segurança Robusta em Ambientes Distintos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8918975" y="1912228"/>
            <a:ext cx="249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Validação Operacional em Laboratório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1019175" y="4562028"/>
            <a:ext cx="1117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7724775" y="419100"/>
            <a:ext cx="13239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Loss Rate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7724775" y="542925"/>
            <a:ext cx="13239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0% Pkt Loss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8970168" y="419100"/>
            <a:ext cx="239315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Criptografia</a:t>
            </a:r>
            <a:endParaRPr/>
          </a:p>
        </p:txBody>
      </p:sp>
      <p:sp>
        <p:nvSpPr>
          <p:cNvPr id="280" name="Google Shape;280;p18"/>
          <p:cNvSpPr txBox="1"/>
          <p:nvPr/>
        </p:nvSpPr>
        <p:spPr>
          <a:xfrm>
            <a:off x="8970168" y="542925"/>
            <a:ext cx="23931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AES-256 Homologado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1162050" y="6172051"/>
            <a:ext cx="358378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CÓDIGO &amp; SCRIPTS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1028775" y="6310175"/>
            <a:ext cx="345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github.com/RafaeldsSiqueira/strongswan-ipsec-vpn</a:t>
            </a:r>
            <a:endParaRPr sz="9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4895850" y="6172051"/>
            <a:ext cx="441721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 OFICIAL STRONGSWAN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4895850" y="6295876"/>
            <a:ext cx="4417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docs.strongswan.org/docs/5.9/swanctl/swanctlConf.html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9134475" y="6186338"/>
            <a:ext cx="167878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READY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9134475" y="6310163"/>
            <a:ext cx="167878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IKEv2 • ESP • XFRM • NAT-T</a:t>
            </a:r>
            <a:endParaRPr/>
          </a:p>
        </p:txBody>
      </p:sp>
      <p:pic>
        <p:nvPicPr>
          <p:cNvPr id="287" name="Google Shape;28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625" y="2083925"/>
            <a:ext cx="10458600" cy="3762312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