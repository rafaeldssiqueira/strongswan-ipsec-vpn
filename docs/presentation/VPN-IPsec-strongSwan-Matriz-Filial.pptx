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y="6858000" cx="12192000"/>
  <p:notesSz cx="6858000" cy="9144000"/>
  <p:embeddedFontLst>
    <p:embeddedFont>
      <p:font typeface="Plus Jakarta Sans"/>
      <p:regular r:id="rId12"/>
      <p:bold r:id="rId13"/>
      <p:italic r:id="rId14"/>
      <p:boldItalic r:id="rId15"/>
    </p:embeddedFont>
    <p:embeddedFont>
      <p:font typeface="JetBrains Mono"/>
      <p:regular r:id="rId16"/>
      <p:bold r:id="rId17"/>
      <p:italic r:id="rId18"/>
      <p:boldItalic r:id="rId1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font" Target="fonts/PlusJakartaSans-bold.fntdata"/><Relationship Id="rId12" Type="http://schemas.openxmlformats.org/officeDocument/2006/relationships/font" Target="fonts/PlusJakartaSans-regular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PlusJakartaSans-boldItalic.fntdata"/><Relationship Id="rId14" Type="http://schemas.openxmlformats.org/officeDocument/2006/relationships/font" Target="fonts/PlusJakartaSans-italic.fntdata"/><Relationship Id="rId17" Type="http://schemas.openxmlformats.org/officeDocument/2006/relationships/font" Target="fonts/JetBrainsMono-bold.fntdata"/><Relationship Id="rId16" Type="http://schemas.openxmlformats.org/officeDocument/2006/relationships/font" Target="fonts/JetBrainsMono-regular.fntdata"/><Relationship Id="rId5" Type="http://schemas.openxmlformats.org/officeDocument/2006/relationships/notesMaster" Target="notesMasters/notesMaster1.xml"/><Relationship Id="rId19" Type="http://schemas.openxmlformats.org/officeDocument/2006/relationships/font" Target="fonts/JetBrainsMono-boldItalic.fntdata"/><Relationship Id="rId6" Type="http://schemas.openxmlformats.org/officeDocument/2006/relationships/slide" Target="slides/slide1.xml"/><Relationship Id="rId18" Type="http://schemas.openxmlformats.org/officeDocument/2006/relationships/font" Target="fonts/JetBrainsMono-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" name="Google Shape;255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2.png"/><Relationship Id="rId4" Type="http://schemas.openxmlformats.org/officeDocument/2006/relationships/image" Target="../media/image1.png"/><Relationship Id="rId5" Type="http://schemas.openxmlformats.org/officeDocument/2006/relationships/image" Target="../media/image21.png"/><Relationship Id="rId6" Type="http://schemas.openxmlformats.org/officeDocument/2006/relationships/image" Target="../media/image6.png"/><Relationship Id="rId7" Type="http://schemas.openxmlformats.org/officeDocument/2006/relationships/image" Target="../media/image4.png"/><Relationship Id="rId8" Type="http://schemas.openxmlformats.org/officeDocument/2006/relationships/image" Target="../media/image36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7.png"/><Relationship Id="rId6" Type="http://schemas.openxmlformats.org/officeDocument/2006/relationships/image" Target="../media/image5.png"/><Relationship Id="rId7" Type="http://schemas.openxmlformats.org/officeDocument/2006/relationships/image" Target="../media/image23.png"/><Relationship Id="rId8" Type="http://schemas.openxmlformats.org/officeDocument/2006/relationships/image" Target="../media/image20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3.png"/><Relationship Id="rId4" Type="http://schemas.openxmlformats.org/officeDocument/2006/relationships/image" Target="../media/image9.png"/><Relationship Id="rId5" Type="http://schemas.openxmlformats.org/officeDocument/2006/relationships/image" Target="../media/image22.png"/><Relationship Id="rId6" Type="http://schemas.openxmlformats.org/officeDocument/2006/relationships/image" Target="../media/image15.png"/><Relationship Id="rId7" Type="http://schemas.openxmlformats.org/officeDocument/2006/relationships/image" Target="../media/image8.png"/><Relationship Id="rId8" Type="http://schemas.openxmlformats.org/officeDocument/2006/relationships/image" Target="../media/image3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1.png"/><Relationship Id="rId4" Type="http://schemas.openxmlformats.org/officeDocument/2006/relationships/image" Target="../media/image10.png"/><Relationship Id="rId5" Type="http://schemas.openxmlformats.org/officeDocument/2006/relationships/image" Target="../media/image14.png"/><Relationship Id="rId6" Type="http://schemas.openxmlformats.org/officeDocument/2006/relationships/image" Target="../media/image11.png"/><Relationship Id="rId7" Type="http://schemas.openxmlformats.org/officeDocument/2006/relationships/image" Target="../media/image30.png"/><Relationship Id="rId8" Type="http://schemas.openxmlformats.org/officeDocument/2006/relationships/image" Target="../media/image2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6.png"/><Relationship Id="rId4" Type="http://schemas.openxmlformats.org/officeDocument/2006/relationships/image" Target="../media/image19.png"/><Relationship Id="rId10" Type="http://schemas.openxmlformats.org/officeDocument/2006/relationships/image" Target="../media/image29.png"/><Relationship Id="rId9" Type="http://schemas.openxmlformats.org/officeDocument/2006/relationships/image" Target="../media/image17.png"/><Relationship Id="rId5" Type="http://schemas.openxmlformats.org/officeDocument/2006/relationships/image" Target="../media/image33.png"/><Relationship Id="rId6" Type="http://schemas.openxmlformats.org/officeDocument/2006/relationships/image" Target="../media/image32.png"/><Relationship Id="rId7" Type="http://schemas.openxmlformats.org/officeDocument/2006/relationships/image" Target="../media/image18.png"/><Relationship Id="rId8" Type="http://schemas.openxmlformats.org/officeDocument/2006/relationships/image" Target="../media/image2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7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3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120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762000" y="2950368"/>
            <a:ext cx="9144000" cy="655141"/>
          </a:xfrm>
          <a:prstGeom prst="roundRect">
            <a:avLst>
              <a:gd fmla="val 8723" name="adj"/>
            </a:avLst>
          </a:prstGeom>
          <a:solidFill>
            <a:srgbClr val="171D2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3"/>
          <p:cNvSpPr/>
          <p:nvPr/>
        </p:nvSpPr>
        <p:spPr>
          <a:xfrm>
            <a:off x="762000" y="2950368"/>
            <a:ext cx="28575" cy="655141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3"/>
          <p:cNvSpPr/>
          <p:nvPr/>
        </p:nvSpPr>
        <p:spPr>
          <a:xfrm>
            <a:off x="762000" y="3834110"/>
            <a:ext cx="3429000" cy="1466850"/>
          </a:xfrm>
          <a:prstGeom prst="roundRect">
            <a:avLst>
              <a:gd fmla="val 6493" name="adj"/>
            </a:avLst>
          </a:prstGeom>
          <a:solidFill>
            <a:srgbClr val="0F172A"/>
          </a:solidFill>
          <a:ln cap="flat" cmpd="sng" w="9525">
            <a:solidFill>
              <a:srgbClr val="1E29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3"/>
          <p:cNvSpPr/>
          <p:nvPr/>
        </p:nvSpPr>
        <p:spPr>
          <a:xfrm>
            <a:off x="4381500" y="3834110"/>
            <a:ext cx="3429000" cy="1466850"/>
          </a:xfrm>
          <a:prstGeom prst="roundRect">
            <a:avLst>
              <a:gd fmla="val 6493" name="adj"/>
            </a:avLst>
          </a:prstGeom>
          <a:solidFill>
            <a:srgbClr val="0F172A"/>
          </a:solidFill>
          <a:ln cap="flat" cmpd="sng" w="9525">
            <a:solidFill>
              <a:srgbClr val="1E29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3"/>
          <p:cNvSpPr/>
          <p:nvPr/>
        </p:nvSpPr>
        <p:spPr>
          <a:xfrm>
            <a:off x="8001000" y="3834110"/>
            <a:ext cx="3429000" cy="1466850"/>
          </a:xfrm>
          <a:prstGeom prst="roundRect">
            <a:avLst>
              <a:gd fmla="val 6493" name="adj"/>
            </a:avLst>
          </a:prstGeom>
          <a:solidFill>
            <a:srgbClr val="0F172A"/>
          </a:solidFill>
          <a:ln cap="flat" cmpd="sng" w="9525">
            <a:solidFill>
              <a:srgbClr val="1E29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89" name="Google Shape;89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2000" y="2416968"/>
            <a:ext cx="361950" cy="3619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0" name="Google Shape;90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47725" y="2521743"/>
            <a:ext cx="19050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1" name="Google Shape;91;p1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00125" y="4072235"/>
            <a:ext cx="200025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2" name="Google Shape;92;p1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619625" y="4072235"/>
            <a:ext cx="200025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3" name="Google Shape;93;p1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239125" y="4072235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3"/>
          <p:cNvSpPr txBox="1"/>
          <p:nvPr/>
        </p:nvSpPr>
        <p:spPr>
          <a:xfrm>
            <a:off x="762000" y="1556891"/>
            <a:ext cx="114300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38BDF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ENGENHARIA DE REDES &amp; SEGURANÇA</a:t>
            </a:r>
            <a:endParaRPr/>
          </a:p>
        </p:txBody>
      </p:sp>
      <p:sp>
        <p:nvSpPr>
          <p:cNvPr id="95" name="Google Shape;95;p13"/>
          <p:cNvSpPr txBox="1"/>
          <p:nvPr/>
        </p:nvSpPr>
        <p:spPr>
          <a:xfrm>
            <a:off x="762000" y="1823591"/>
            <a:ext cx="11430000" cy="4600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49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VPN IPsec strongSwan: Matriz × Filial</a:t>
            </a:r>
            <a:endParaRPr/>
          </a:p>
        </p:txBody>
      </p:sp>
      <p:sp>
        <p:nvSpPr>
          <p:cNvPr id="96" name="Google Shape;96;p13"/>
          <p:cNvSpPr txBox="1"/>
          <p:nvPr/>
        </p:nvSpPr>
        <p:spPr>
          <a:xfrm>
            <a:off x="962025" y="3064668"/>
            <a:ext cx="8867775" cy="4265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38BDF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Objetivo do Projeto:</a:t>
            </a:r>
            <a:r>
              <a:rPr b="0" i="0" lang="en-US" sz="1200" u="none" cap="none" strike="noStrik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Interligar com segurança, escalabilidade e custo zero de royalties as redes corporativas da Matriz e Filial, implementando IKEv2 puro com criptografia AES-256 e validação em Rocky Linux.</a:t>
            </a:r>
            <a:endParaRPr/>
          </a:p>
        </p:txBody>
      </p:sp>
      <p:sp>
        <p:nvSpPr>
          <p:cNvPr id="97" name="Google Shape;97;p13"/>
          <p:cNvSpPr txBox="1"/>
          <p:nvPr/>
        </p:nvSpPr>
        <p:spPr>
          <a:xfrm>
            <a:off x="1238250" y="2422773"/>
            <a:ext cx="3750468" cy="182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Rafael da Silva Siqueira</a:t>
            </a:r>
            <a:endParaRPr/>
          </a:p>
        </p:txBody>
      </p:sp>
      <p:sp>
        <p:nvSpPr>
          <p:cNvPr id="98" name="Google Shape;98;p13"/>
          <p:cNvSpPr txBox="1"/>
          <p:nvPr/>
        </p:nvSpPr>
        <p:spPr>
          <a:xfrm>
            <a:off x="1238250" y="2624583"/>
            <a:ext cx="3750468" cy="148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Analista de Infraestrutura e Implantação de Sistemas</a:t>
            </a:r>
            <a:endParaRPr/>
          </a:p>
        </p:txBody>
      </p:sp>
      <p:sp>
        <p:nvSpPr>
          <p:cNvPr id="99" name="Google Shape;99;p13"/>
          <p:cNvSpPr txBox="1"/>
          <p:nvPr/>
        </p:nvSpPr>
        <p:spPr>
          <a:xfrm>
            <a:off x="1000125" y="4415135"/>
            <a:ext cx="3875484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25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Criptografia em Trânsito</a:t>
            </a:r>
            <a:endParaRPr/>
          </a:p>
        </p:txBody>
      </p:sp>
      <p:sp>
        <p:nvSpPr>
          <p:cNvPr id="100" name="Google Shape;100;p13"/>
          <p:cNvSpPr txBox="1"/>
          <p:nvPr/>
        </p:nvSpPr>
        <p:spPr>
          <a:xfrm>
            <a:off x="1000125" y="4700885"/>
            <a:ext cx="304800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Blindagem AES-256 de ponta a ponta sobre links públicos.</a:t>
            </a:r>
            <a:endParaRPr/>
          </a:p>
        </p:txBody>
      </p:sp>
      <p:sp>
        <p:nvSpPr>
          <p:cNvPr id="101" name="Google Shape;101;p13"/>
          <p:cNvSpPr txBox="1"/>
          <p:nvPr/>
        </p:nvSpPr>
        <p:spPr>
          <a:xfrm>
            <a:off x="4619625" y="4415135"/>
            <a:ext cx="3875484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25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Vantagem Open Source</a:t>
            </a:r>
            <a:endParaRPr/>
          </a:p>
        </p:txBody>
      </p:sp>
      <p:sp>
        <p:nvSpPr>
          <p:cNvPr id="102" name="Google Shape;102;p13"/>
          <p:cNvSpPr txBox="1"/>
          <p:nvPr/>
        </p:nvSpPr>
        <p:spPr>
          <a:xfrm>
            <a:off x="4619625" y="4700885"/>
            <a:ext cx="304800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Zero royalties com strongSwan e independência de fornecedor.</a:t>
            </a:r>
            <a:endParaRPr/>
          </a:p>
        </p:txBody>
      </p:sp>
      <p:sp>
        <p:nvSpPr>
          <p:cNvPr id="103" name="Google Shape;103;p13"/>
          <p:cNvSpPr txBox="1"/>
          <p:nvPr/>
        </p:nvSpPr>
        <p:spPr>
          <a:xfrm>
            <a:off x="8239125" y="4415135"/>
            <a:ext cx="3875484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25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Redução de CapEx &amp; OpEx</a:t>
            </a:r>
            <a:endParaRPr/>
          </a:p>
        </p:txBody>
      </p:sp>
      <p:sp>
        <p:nvSpPr>
          <p:cNvPr id="104" name="Google Shape;104;p13"/>
          <p:cNvSpPr txBox="1"/>
          <p:nvPr/>
        </p:nvSpPr>
        <p:spPr>
          <a:xfrm>
            <a:off x="8239125" y="4700885"/>
            <a:ext cx="304800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Elimina appliances dedicados de alto custo e taxas de licença por túnel.</a:t>
            </a:r>
            <a:endParaRPr/>
          </a:p>
        </p:txBody>
      </p:sp>
      <p:pic>
        <p:nvPicPr>
          <p:cNvPr id="105" name="Google Shape;105;p13" title="Gemini_Generated_Image_9kh35e9kh35e9kh3.jpe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0" y="26789"/>
            <a:ext cx="12192000" cy="68044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4"/>
          <p:cNvSpPr/>
          <p:nvPr/>
        </p:nvSpPr>
        <p:spPr>
          <a:xfrm>
            <a:off x="762000" y="1028700"/>
            <a:ext cx="10668000" cy="563760"/>
          </a:xfrm>
          <a:prstGeom prst="roundRect">
            <a:avLst>
              <a:gd fmla="val 13516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14"/>
          <p:cNvSpPr/>
          <p:nvPr/>
        </p:nvSpPr>
        <p:spPr>
          <a:xfrm>
            <a:off x="762000" y="2830710"/>
            <a:ext cx="10668000" cy="361950"/>
          </a:xfrm>
          <a:prstGeom prst="roundRect">
            <a:avLst>
              <a:gd fmla="val 21052" name="adj"/>
            </a:avLst>
          </a:prstGeom>
          <a:solidFill>
            <a:srgbClr val="E0F2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14"/>
          <p:cNvSpPr/>
          <p:nvPr/>
        </p:nvSpPr>
        <p:spPr>
          <a:xfrm>
            <a:off x="762000" y="3326025"/>
            <a:ext cx="10668000" cy="3355800"/>
          </a:xfrm>
          <a:prstGeom prst="roundRect">
            <a:avLst>
              <a:gd fmla="val 14285" name="adj"/>
            </a:avLst>
          </a:prstGeom>
          <a:solidFill>
            <a:srgbClr val="FFFFFF"/>
          </a:solidFill>
          <a:ln cap="flat" cmpd="sng" w="19050">
            <a:solidFill>
              <a:srgbClr val="0284C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4"/>
          <p:cNvSpPr/>
          <p:nvPr/>
        </p:nvSpPr>
        <p:spPr>
          <a:xfrm>
            <a:off x="762000" y="1028700"/>
            <a:ext cx="38100" cy="56376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14"/>
          <p:cNvSpPr/>
          <p:nvPr/>
        </p:nvSpPr>
        <p:spPr>
          <a:xfrm>
            <a:off x="762000" y="1725810"/>
            <a:ext cx="4705350" cy="990600"/>
          </a:xfrm>
          <a:prstGeom prst="roundRect">
            <a:avLst>
              <a:gd fmla="val 9615" name="adj"/>
            </a:avLst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4"/>
          <p:cNvSpPr/>
          <p:nvPr/>
        </p:nvSpPr>
        <p:spPr>
          <a:xfrm>
            <a:off x="6724650" y="1725810"/>
            <a:ext cx="4705350" cy="990600"/>
          </a:xfrm>
          <a:prstGeom prst="roundRect">
            <a:avLst>
              <a:gd fmla="val 9615" name="adj"/>
            </a:avLst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4"/>
          <p:cNvSpPr/>
          <p:nvPr/>
        </p:nvSpPr>
        <p:spPr>
          <a:xfrm>
            <a:off x="6172051" y="2935485"/>
            <a:ext cx="9525" cy="152400"/>
          </a:xfrm>
          <a:prstGeom prst="rect">
            <a:avLst/>
          </a:prstGeom>
          <a:solidFill>
            <a:srgbClr val="7DD3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14"/>
          <p:cNvSpPr/>
          <p:nvPr/>
        </p:nvSpPr>
        <p:spPr>
          <a:xfrm>
            <a:off x="5695950" y="2121098"/>
            <a:ext cx="228600" cy="1905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4"/>
          <p:cNvSpPr/>
          <p:nvPr/>
        </p:nvSpPr>
        <p:spPr>
          <a:xfrm>
            <a:off x="6267450" y="2121098"/>
            <a:ext cx="228600" cy="1905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4"/>
          <p:cNvSpPr/>
          <p:nvPr/>
        </p:nvSpPr>
        <p:spPr>
          <a:xfrm>
            <a:off x="9801225" y="3473648"/>
            <a:ext cx="1419225" cy="190500"/>
          </a:xfrm>
          <a:prstGeom prst="roundRect">
            <a:avLst>
              <a:gd fmla="val 20000" name="adj"/>
            </a:avLst>
          </a:prstGeom>
          <a:solidFill>
            <a:srgbClr val="E0F2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20" name="Google Shape;120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1550" y="3459360"/>
            <a:ext cx="400050" cy="4000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1" name="Google Shape;121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2037" y="3564135"/>
            <a:ext cx="219075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2" name="Google Shape;122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62025" y="1906785"/>
            <a:ext cx="171450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3" name="Google Shape;123;p1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000750" y="2035373"/>
            <a:ext cx="19050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4" name="Google Shape;124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924675" y="1906785"/>
            <a:ext cx="171450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14"/>
          <p:cNvSpPr txBox="1"/>
          <p:nvPr/>
        </p:nvSpPr>
        <p:spPr>
          <a:xfrm>
            <a:off x="762000" y="342900"/>
            <a:ext cx="114300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284C7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ESPECIFICAÇÃO TÉCNICA</a:t>
            </a:r>
            <a:endParaRPr/>
          </a:p>
        </p:txBody>
      </p:sp>
      <p:sp>
        <p:nvSpPr>
          <p:cNvPr id="126" name="Google Shape;126;p14"/>
          <p:cNvSpPr txBox="1"/>
          <p:nvPr/>
        </p:nvSpPr>
        <p:spPr>
          <a:xfrm>
            <a:off x="762000" y="552450"/>
            <a:ext cx="1143000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5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Topologia de Rede &amp; Parâmetros de Borda</a:t>
            </a:r>
            <a:endParaRPr/>
          </a:p>
        </p:txBody>
      </p:sp>
      <p:sp>
        <p:nvSpPr>
          <p:cNvPr id="127" name="Google Shape;127;p14"/>
          <p:cNvSpPr txBox="1"/>
          <p:nvPr/>
        </p:nvSpPr>
        <p:spPr>
          <a:xfrm>
            <a:off x="952500" y="1123950"/>
            <a:ext cx="10420350" cy="3732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284C7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Cenário Operacional:</a:t>
            </a:r>
            <a:r>
              <a:rPr b="0" i="0" lang="en-US" sz="1050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Interconexão ponto a ponto de dois gateways Rocky Linux 9 virtualizados sob KVM, estabelecendo túnel seguro entre as sub-redes corporativas com roteamento e filtragem de borda dedicados.</a:t>
            </a:r>
            <a:endParaRPr/>
          </a:p>
        </p:txBody>
      </p:sp>
      <p:sp>
        <p:nvSpPr>
          <p:cNvPr id="128" name="Google Shape;128;p14"/>
          <p:cNvSpPr txBox="1"/>
          <p:nvPr/>
        </p:nvSpPr>
        <p:spPr>
          <a:xfrm>
            <a:off x="1520725" y="2925960"/>
            <a:ext cx="4345781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369A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Local TS:</a:t>
            </a:r>
            <a:r>
              <a:rPr b="0" i="0" lang="en-US" sz="1050" u="none" cap="none" strike="noStrike">
                <a:solidFill>
                  <a:srgbClr val="0369A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192.168.10.0/24 ⇄ </a:t>
            </a:r>
            <a:r>
              <a:rPr b="1" i="0" lang="en-US" sz="1050" u="none" cap="none" strike="noStrike">
                <a:solidFill>
                  <a:srgbClr val="0369A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Remote TS:</a:t>
            </a:r>
            <a:r>
              <a:rPr b="0" i="0" lang="en-US" sz="1050" u="none" cap="none" strike="noStrike">
                <a:solidFill>
                  <a:srgbClr val="0369A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192.168.20.0/24</a:t>
            </a:r>
            <a:endParaRPr/>
          </a:p>
        </p:txBody>
      </p:sp>
      <p:sp>
        <p:nvSpPr>
          <p:cNvPr id="129" name="Google Shape;129;p14"/>
          <p:cNvSpPr txBox="1"/>
          <p:nvPr/>
        </p:nvSpPr>
        <p:spPr>
          <a:xfrm>
            <a:off x="7356276" y="2925960"/>
            <a:ext cx="414337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369A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Virtualização:</a:t>
            </a:r>
            <a:r>
              <a:rPr b="0" i="0" lang="en-US" sz="1050" u="none" cap="none" strike="noStrike">
                <a:solidFill>
                  <a:srgbClr val="0369A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KVM / Virt-Manager | </a:t>
            </a:r>
            <a:r>
              <a:rPr b="1" i="0" lang="en-US" sz="1050" u="none" cap="none" strike="noStrike">
                <a:solidFill>
                  <a:srgbClr val="0369A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OS:</a:t>
            </a:r>
            <a:r>
              <a:rPr b="0" i="0" lang="en-US" sz="1050" u="none" cap="none" strike="noStrike">
                <a:solidFill>
                  <a:srgbClr val="0369A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Rocky Linux 9</a:t>
            </a:r>
            <a:endParaRPr/>
          </a:p>
        </p:txBody>
      </p:sp>
      <p:sp>
        <p:nvSpPr>
          <p:cNvPr id="130" name="Google Shape;130;p14"/>
          <p:cNvSpPr txBox="1"/>
          <p:nvPr/>
        </p:nvSpPr>
        <p:spPr>
          <a:xfrm>
            <a:off x="962025" y="2173485"/>
            <a:ext cx="538162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LAN:</a:t>
            </a:r>
            <a:r>
              <a:rPr b="0" i="0" lang="en-US" sz="1050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192.168.10.1/24 (enp1s0)</a:t>
            </a:r>
            <a:endParaRPr/>
          </a:p>
        </p:txBody>
      </p:sp>
      <p:sp>
        <p:nvSpPr>
          <p:cNvPr id="131" name="Google Shape;131;p14"/>
          <p:cNvSpPr txBox="1"/>
          <p:nvPr/>
        </p:nvSpPr>
        <p:spPr>
          <a:xfrm>
            <a:off x="962025" y="2383035"/>
            <a:ext cx="538162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WAN:</a:t>
            </a:r>
            <a:r>
              <a:rPr b="0" i="0" lang="en-US" sz="1050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192.168.122.24 (enp2s0)</a:t>
            </a:r>
            <a:endParaRPr/>
          </a:p>
        </p:txBody>
      </p:sp>
      <p:sp>
        <p:nvSpPr>
          <p:cNvPr id="132" name="Google Shape;132;p14"/>
          <p:cNvSpPr txBox="1"/>
          <p:nvPr/>
        </p:nvSpPr>
        <p:spPr>
          <a:xfrm>
            <a:off x="5643562" y="2263973"/>
            <a:ext cx="90487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284C7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IKEv2 / ESP</a:t>
            </a:r>
            <a:endParaRPr/>
          </a:p>
        </p:txBody>
      </p:sp>
      <p:sp>
        <p:nvSpPr>
          <p:cNvPr id="133" name="Google Shape;133;p14"/>
          <p:cNvSpPr txBox="1"/>
          <p:nvPr/>
        </p:nvSpPr>
        <p:spPr>
          <a:xfrm>
            <a:off x="6924675" y="2173485"/>
            <a:ext cx="526732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LAN:</a:t>
            </a:r>
            <a:r>
              <a:rPr b="0" i="0" lang="en-US" sz="1050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192.168.20.1/24 (enp1s0)</a:t>
            </a:r>
            <a:endParaRPr/>
          </a:p>
        </p:txBody>
      </p:sp>
      <p:sp>
        <p:nvSpPr>
          <p:cNvPr id="134" name="Google Shape;134;p14"/>
          <p:cNvSpPr txBox="1"/>
          <p:nvPr/>
        </p:nvSpPr>
        <p:spPr>
          <a:xfrm>
            <a:off x="6924675" y="2383035"/>
            <a:ext cx="526732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WAN:</a:t>
            </a:r>
            <a:r>
              <a:rPr b="0" i="0" lang="en-US" sz="1050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192.168.122.48 (enp2s0)</a:t>
            </a:r>
            <a:endParaRPr/>
          </a:p>
        </p:txBody>
      </p:sp>
      <p:sp>
        <p:nvSpPr>
          <p:cNvPr id="135" name="Google Shape;135;p14"/>
          <p:cNvSpPr txBox="1"/>
          <p:nvPr/>
        </p:nvSpPr>
        <p:spPr>
          <a:xfrm>
            <a:off x="1228725" y="1887735"/>
            <a:ext cx="1675209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gateway-matriz</a:t>
            </a:r>
            <a:endParaRPr/>
          </a:p>
        </p:txBody>
      </p:sp>
      <p:sp>
        <p:nvSpPr>
          <p:cNvPr id="136" name="Google Shape;136;p14"/>
          <p:cNvSpPr txBox="1"/>
          <p:nvPr/>
        </p:nvSpPr>
        <p:spPr>
          <a:xfrm>
            <a:off x="7191375" y="1887735"/>
            <a:ext cx="1460182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gateway-filial</a:t>
            </a:r>
            <a:endParaRPr/>
          </a:p>
        </p:txBody>
      </p:sp>
      <p:sp>
        <p:nvSpPr>
          <p:cNvPr id="137" name="Google Shape;137;p14"/>
          <p:cNvSpPr txBox="1"/>
          <p:nvPr/>
        </p:nvSpPr>
        <p:spPr>
          <a:xfrm>
            <a:off x="1524000" y="3483173"/>
            <a:ext cx="56436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14"/>
          <p:cNvSpPr txBox="1"/>
          <p:nvPr/>
        </p:nvSpPr>
        <p:spPr>
          <a:xfrm>
            <a:off x="9877425" y="3492698"/>
            <a:ext cx="1362075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284C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ip -br a • KVM Topo</a:t>
            </a:r>
            <a:endParaRPr/>
          </a:p>
        </p:txBody>
      </p:sp>
      <p:pic>
        <p:nvPicPr>
          <p:cNvPr id="139" name="Google Shape;139;p14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962025" y="3616500"/>
            <a:ext cx="10277475" cy="1152525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284C7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140" name="Google Shape;140;p14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952500" y="5288125"/>
            <a:ext cx="10277475" cy="10668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284C7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5"/>
          <p:cNvSpPr/>
          <p:nvPr/>
        </p:nvSpPr>
        <p:spPr>
          <a:xfrm>
            <a:off x="762000" y="1162050"/>
            <a:ext cx="10668000" cy="828675"/>
          </a:xfrm>
          <a:prstGeom prst="roundRect">
            <a:avLst>
              <a:gd fmla="val 9195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15"/>
          <p:cNvSpPr/>
          <p:nvPr/>
        </p:nvSpPr>
        <p:spPr>
          <a:xfrm>
            <a:off x="762000" y="4305300"/>
            <a:ext cx="10668000" cy="2134800"/>
          </a:xfrm>
          <a:prstGeom prst="roundRect">
            <a:avLst>
              <a:gd fmla="val 12500" name="adj"/>
            </a:avLst>
          </a:prstGeom>
          <a:solidFill>
            <a:srgbClr val="F8FAFC"/>
          </a:solidFill>
          <a:ln cap="flat" cmpd="sng" w="19050">
            <a:solidFill>
              <a:srgbClr val="94A3B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15"/>
          <p:cNvSpPr/>
          <p:nvPr/>
        </p:nvSpPr>
        <p:spPr>
          <a:xfrm>
            <a:off x="762000" y="1162050"/>
            <a:ext cx="38100" cy="828675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15"/>
          <p:cNvSpPr/>
          <p:nvPr/>
        </p:nvSpPr>
        <p:spPr>
          <a:xfrm>
            <a:off x="762000" y="2162175"/>
            <a:ext cx="4643437" cy="1971675"/>
          </a:xfrm>
          <a:prstGeom prst="roundRect">
            <a:avLst>
              <a:gd fmla="val 4830" name="adj"/>
            </a:avLst>
          </a:prstGeom>
          <a:solidFill>
            <a:srgbClr val="F0F9FF"/>
          </a:solidFill>
          <a:ln cap="flat" cmpd="sng" w="9525">
            <a:solidFill>
              <a:srgbClr val="E0F2F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5"/>
          <p:cNvSpPr/>
          <p:nvPr/>
        </p:nvSpPr>
        <p:spPr>
          <a:xfrm>
            <a:off x="6786562" y="2162175"/>
            <a:ext cx="4643437" cy="1971675"/>
          </a:xfrm>
          <a:prstGeom prst="roundRect">
            <a:avLst>
              <a:gd fmla="val 4830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50" name="Google Shape;150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128837" y="4476750"/>
            <a:ext cx="419100" cy="4191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1" name="Google Shape;151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995987" y="2943225"/>
            <a:ext cx="200025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2" name="Google Shape;152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233612" y="4581525"/>
            <a:ext cx="209550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3" name="Google Shape;153;p1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19175" y="2395537"/>
            <a:ext cx="266700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4" name="Google Shape;154;p1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043737" y="2395537"/>
            <a:ext cx="209550" cy="209550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15"/>
          <p:cNvSpPr txBox="1"/>
          <p:nvPr/>
        </p:nvSpPr>
        <p:spPr>
          <a:xfrm>
            <a:off x="762000" y="419100"/>
            <a:ext cx="114300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284C7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CONCEITO FUNDAMENTAL</a:t>
            </a:r>
            <a:endParaRPr/>
          </a:p>
        </p:txBody>
      </p:sp>
      <p:sp>
        <p:nvSpPr>
          <p:cNvPr id="156" name="Google Shape;156;p15"/>
          <p:cNvSpPr txBox="1"/>
          <p:nvPr/>
        </p:nvSpPr>
        <p:spPr>
          <a:xfrm>
            <a:off x="762000" y="6477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 Relação Pai &amp; Filho no Túnel IPsec</a:t>
            </a:r>
            <a:endParaRPr/>
          </a:p>
        </p:txBody>
      </p:sp>
      <p:sp>
        <p:nvSpPr>
          <p:cNvPr id="157" name="Google Shape;157;p15"/>
          <p:cNvSpPr txBox="1"/>
          <p:nvPr/>
        </p:nvSpPr>
        <p:spPr>
          <a:xfrm>
            <a:off x="971550" y="1276350"/>
            <a:ext cx="10382250" cy="600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0284C7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Conceito Arquitetural:</a:t>
            </a:r>
            <a:r>
              <a:rPr b="0" i="0" lang="en-US" sz="1125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O protocolo IKEv2 opera em modelo de duas camadas. O </a:t>
            </a:r>
            <a:r>
              <a:rPr b="1" i="0" lang="en-US" sz="1125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Túnel Pai (IKE SA)</a:t>
            </a:r>
            <a:r>
              <a:rPr b="0" i="0" lang="en-US" sz="1125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é o canal de gestão criptografado responsável pela autenticação mútua e negociação de chaves, enquanto o </a:t>
            </a:r>
            <a:r>
              <a:rPr b="1" i="0" lang="en-US" sz="1125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Túnel Filho (Child SA)</a:t>
            </a:r>
            <a:r>
              <a:rPr b="0" i="0" lang="en-US" sz="1125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é a via operacional (ESP) encarregada de encapsular e proteger o tráfego de dados corporativos entre as sub-redes.</a:t>
            </a:r>
            <a:endParaRPr/>
          </a:p>
        </p:txBody>
      </p:sp>
      <p:sp>
        <p:nvSpPr>
          <p:cNvPr id="158" name="Google Shape;158;p15"/>
          <p:cNvSpPr txBox="1"/>
          <p:nvPr/>
        </p:nvSpPr>
        <p:spPr>
          <a:xfrm>
            <a:off x="1019175" y="2714625"/>
            <a:ext cx="4224337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Função:</a:t>
            </a:r>
            <a:r>
              <a:rPr b="0" i="0" lang="en-US" sz="1125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Canal de gestão e controle administrativo blindado.</a:t>
            </a:r>
            <a:endParaRPr/>
          </a:p>
        </p:txBody>
      </p:sp>
      <p:sp>
        <p:nvSpPr>
          <p:cNvPr id="159" name="Google Shape;159;p15"/>
          <p:cNvSpPr txBox="1"/>
          <p:nvPr/>
        </p:nvSpPr>
        <p:spPr>
          <a:xfrm>
            <a:off x="1019175" y="3133725"/>
            <a:ext cx="4224337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Missão:</a:t>
            </a:r>
            <a:r>
              <a:rPr b="0" i="0" lang="en-US" sz="1125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Autenticar os dois gateways e negociar parâmetros criptográficos.</a:t>
            </a:r>
            <a:endParaRPr/>
          </a:p>
        </p:txBody>
      </p:sp>
      <p:sp>
        <p:nvSpPr>
          <p:cNvPr id="160" name="Google Shape;160;p15"/>
          <p:cNvSpPr txBox="1"/>
          <p:nvPr/>
        </p:nvSpPr>
        <p:spPr>
          <a:xfrm>
            <a:off x="1019175" y="3552825"/>
            <a:ext cx="4224337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Tráfego:</a:t>
            </a:r>
            <a:r>
              <a:rPr b="0" i="0" lang="en-US" sz="1125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Restrito a mensagens de controle (portas UDP 500/4500).</a:t>
            </a:r>
            <a:endParaRPr/>
          </a:p>
        </p:txBody>
      </p:sp>
      <p:sp>
        <p:nvSpPr>
          <p:cNvPr id="161" name="Google Shape;161;p15"/>
          <p:cNvSpPr txBox="1"/>
          <p:nvPr/>
        </p:nvSpPr>
        <p:spPr>
          <a:xfrm>
            <a:off x="5529262" y="3209925"/>
            <a:ext cx="113347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284C7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Gera &amp; Protege</a:t>
            </a:r>
            <a:endParaRPr/>
          </a:p>
        </p:txBody>
      </p:sp>
      <p:sp>
        <p:nvSpPr>
          <p:cNvPr id="162" name="Google Shape;162;p15"/>
          <p:cNvSpPr txBox="1"/>
          <p:nvPr/>
        </p:nvSpPr>
        <p:spPr>
          <a:xfrm>
            <a:off x="7043737" y="2714625"/>
            <a:ext cx="4224337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Função:</a:t>
            </a:r>
            <a:r>
              <a:rPr b="0" i="0" lang="en-US" sz="1125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Rodovia de transporte real de dados (Protocolo ESP).</a:t>
            </a:r>
            <a:endParaRPr/>
          </a:p>
        </p:txBody>
      </p:sp>
      <p:sp>
        <p:nvSpPr>
          <p:cNvPr id="163" name="Google Shape;163;p15"/>
          <p:cNvSpPr txBox="1"/>
          <p:nvPr/>
        </p:nvSpPr>
        <p:spPr>
          <a:xfrm>
            <a:off x="7043737" y="3133725"/>
            <a:ext cx="4224337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Missão:</a:t>
            </a:r>
            <a:r>
              <a:rPr b="0" i="0" lang="en-US" sz="1125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Criptografar e garantir integridade nos pacotes das LANs.</a:t>
            </a:r>
            <a:endParaRPr/>
          </a:p>
        </p:txBody>
      </p:sp>
      <p:sp>
        <p:nvSpPr>
          <p:cNvPr id="164" name="Google Shape;164;p15"/>
          <p:cNvSpPr txBox="1"/>
          <p:nvPr/>
        </p:nvSpPr>
        <p:spPr>
          <a:xfrm>
            <a:off x="7043737" y="3552825"/>
            <a:ext cx="4224337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Escalabilidade:</a:t>
            </a:r>
            <a:r>
              <a:rPr b="0" i="0" lang="en-US" sz="1125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Suporta múltiplos filhos sob uma única aliança pai.</a:t>
            </a:r>
            <a:endParaRPr/>
          </a:p>
        </p:txBody>
      </p:sp>
      <p:sp>
        <p:nvSpPr>
          <p:cNvPr id="165" name="Google Shape;165;p15"/>
          <p:cNvSpPr txBox="1"/>
          <p:nvPr/>
        </p:nvSpPr>
        <p:spPr>
          <a:xfrm>
            <a:off x="2700337" y="4510087"/>
            <a:ext cx="92034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5"/>
          <p:cNvSpPr txBox="1"/>
          <p:nvPr/>
        </p:nvSpPr>
        <p:spPr>
          <a:xfrm>
            <a:off x="1381125" y="2381250"/>
            <a:ext cx="2087760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369A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Túnel Pai (IKE SA)</a:t>
            </a:r>
            <a:endParaRPr/>
          </a:p>
        </p:txBody>
      </p:sp>
      <p:sp>
        <p:nvSpPr>
          <p:cNvPr id="167" name="Google Shape;167;p15"/>
          <p:cNvSpPr txBox="1"/>
          <p:nvPr/>
        </p:nvSpPr>
        <p:spPr>
          <a:xfrm>
            <a:off x="7348537" y="2381250"/>
            <a:ext cx="2537817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Túnel Filho (Child SA)</a:t>
            </a:r>
            <a:endParaRPr/>
          </a:p>
        </p:txBody>
      </p:sp>
      <p:pic>
        <p:nvPicPr>
          <p:cNvPr id="168" name="Google Shape;168;p15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800100" y="4305300"/>
            <a:ext cx="10601326" cy="213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6"/>
          <p:cNvSpPr/>
          <p:nvPr/>
        </p:nvSpPr>
        <p:spPr>
          <a:xfrm>
            <a:off x="762000" y="1028700"/>
            <a:ext cx="10668000" cy="750391"/>
          </a:xfrm>
          <a:prstGeom prst="roundRect">
            <a:avLst>
              <a:gd fmla="val 10154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6"/>
          <p:cNvSpPr/>
          <p:nvPr/>
        </p:nvSpPr>
        <p:spPr>
          <a:xfrm>
            <a:off x="762000" y="3436441"/>
            <a:ext cx="10668000" cy="723900"/>
          </a:xfrm>
          <a:prstGeom prst="roundRect">
            <a:avLst>
              <a:gd fmla="val 13157" name="adj"/>
            </a:avLst>
          </a:prstGeom>
          <a:solidFill>
            <a:srgbClr val="0F172A"/>
          </a:solidFill>
          <a:ln cap="flat" cmpd="sng" w="19050">
            <a:solidFill>
              <a:srgbClr val="0284C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6"/>
          <p:cNvSpPr/>
          <p:nvPr/>
        </p:nvSpPr>
        <p:spPr>
          <a:xfrm>
            <a:off x="762000" y="1028700"/>
            <a:ext cx="38100" cy="750391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16"/>
          <p:cNvSpPr/>
          <p:nvPr/>
        </p:nvSpPr>
        <p:spPr>
          <a:xfrm>
            <a:off x="762000" y="1912441"/>
            <a:ext cx="3454449" cy="1390650"/>
          </a:xfrm>
          <a:prstGeom prst="roundRect">
            <a:avLst>
              <a:gd fmla="val 6849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16"/>
          <p:cNvSpPr/>
          <p:nvPr/>
        </p:nvSpPr>
        <p:spPr>
          <a:xfrm>
            <a:off x="4368849" y="1912441"/>
            <a:ext cx="3454449" cy="1390650"/>
          </a:xfrm>
          <a:prstGeom prst="roundRect">
            <a:avLst>
              <a:gd fmla="val 6849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6"/>
          <p:cNvSpPr/>
          <p:nvPr/>
        </p:nvSpPr>
        <p:spPr>
          <a:xfrm>
            <a:off x="7975699" y="1912441"/>
            <a:ext cx="3454449" cy="1390650"/>
          </a:xfrm>
          <a:prstGeom prst="roundRect">
            <a:avLst>
              <a:gd fmla="val 6849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16"/>
          <p:cNvSpPr/>
          <p:nvPr/>
        </p:nvSpPr>
        <p:spPr>
          <a:xfrm>
            <a:off x="9134475" y="3603128"/>
            <a:ext cx="2085975" cy="190500"/>
          </a:xfrm>
          <a:prstGeom prst="roundRect">
            <a:avLst>
              <a:gd fmla="val 20000" name="adj"/>
            </a:avLst>
          </a:prstGeom>
          <a:solidFill>
            <a:srgbClr val="13283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80" name="Google Shape;180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1550" y="3588841"/>
            <a:ext cx="419100" cy="4191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1" name="Google Shape;181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62025" y="2074366"/>
            <a:ext cx="238125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2" name="Google Shape;182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568874" y="2074366"/>
            <a:ext cx="19050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3" name="Google Shape;183;p1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75724" y="2074366"/>
            <a:ext cx="19050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4" name="Google Shape;184;p1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71562" y="3703141"/>
            <a:ext cx="219075" cy="1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16"/>
          <p:cNvSpPr txBox="1"/>
          <p:nvPr/>
        </p:nvSpPr>
        <p:spPr>
          <a:xfrm>
            <a:off x="762000" y="342900"/>
            <a:ext cx="114300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284C7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IMPLEMENTAÇÃO PRÁTICA</a:t>
            </a:r>
            <a:endParaRPr/>
          </a:p>
        </p:txBody>
      </p:sp>
      <p:sp>
        <p:nvSpPr>
          <p:cNvPr id="186" name="Google Shape;186;p16"/>
          <p:cNvSpPr txBox="1"/>
          <p:nvPr/>
        </p:nvSpPr>
        <p:spPr>
          <a:xfrm>
            <a:off x="762000" y="552450"/>
            <a:ext cx="1143000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5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Fase 1: Estabelecendo a Aliança Pai (IKE SA)</a:t>
            </a:r>
            <a:endParaRPr/>
          </a:p>
        </p:txBody>
      </p:sp>
      <p:sp>
        <p:nvSpPr>
          <p:cNvPr id="187" name="Google Shape;187;p16"/>
          <p:cNvSpPr txBox="1"/>
          <p:nvPr/>
        </p:nvSpPr>
        <p:spPr>
          <a:xfrm>
            <a:off x="952500" y="1123950"/>
            <a:ext cx="10420350" cy="559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284C7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Importância da Fase 1:</a:t>
            </a:r>
            <a:r>
              <a:rPr b="0" i="0" lang="en-US" sz="1050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Cria o canal administrativo blindado para gerar chaves sem expor segredos. O algoritmo </a:t>
            </a:r>
            <a:r>
              <a:rPr b="1" i="0" lang="en-US" sz="1050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AES-256 + Diffie-Hellman</a:t>
            </a:r>
            <a:r>
              <a:rPr b="0" i="0" lang="en-US" sz="1050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assegura confidencialidade e integridade mútua. O ciclo de renovação (</a:t>
            </a:r>
            <a:r>
              <a:rPr b="1" i="0" lang="en-US" sz="1050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rekey_time</a:t>
            </a:r>
            <a:r>
              <a:rPr b="0" i="0" lang="en-US" sz="1050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) rotaciona as chaves periodicamente para limitar a janela de exposição contra ataques, enquanto a liberação da porta </a:t>
            </a:r>
            <a:r>
              <a:rPr b="1" i="0" lang="en-US" sz="1050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UDP 500</a:t>
            </a:r>
            <a:r>
              <a:rPr b="0" i="0" lang="en-US" sz="1050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(IKE padrão) e </a:t>
            </a:r>
            <a:r>
              <a:rPr b="1" i="0" lang="en-US" sz="1050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UDP 4500</a:t>
            </a:r>
            <a:r>
              <a:rPr b="0" i="0" lang="en-US" sz="1050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(NAT-Traversal / NAT-T) garante a transposição transparente de roteadores e firewalls intermediários.</a:t>
            </a:r>
            <a:endParaRPr/>
          </a:p>
        </p:txBody>
      </p:sp>
      <p:sp>
        <p:nvSpPr>
          <p:cNvPr id="188" name="Google Shape;188;p16"/>
          <p:cNvSpPr txBox="1"/>
          <p:nvPr/>
        </p:nvSpPr>
        <p:spPr>
          <a:xfrm>
            <a:off x="962025" y="2341066"/>
            <a:ext cx="4008899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Portas &amp; Autenticação</a:t>
            </a:r>
            <a:endParaRPr/>
          </a:p>
        </p:txBody>
      </p:sp>
      <p:sp>
        <p:nvSpPr>
          <p:cNvPr id="189" name="Google Shape;189;p16"/>
          <p:cNvSpPr txBox="1"/>
          <p:nvPr/>
        </p:nvSpPr>
        <p:spPr>
          <a:xfrm>
            <a:off x="962025" y="2607766"/>
            <a:ext cx="3817999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UDP 500:</a:t>
            </a:r>
            <a:r>
              <a:rPr b="0" i="0" lang="en-US" sz="975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Canal padrão de negociação IKEv2.</a:t>
            </a:r>
            <a:endParaRPr/>
          </a:p>
        </p:txBody>
      </p:sp>
      <p:sp>
        <p:nvSpPr>
          <p:cNvPr id="190" name="Google Shape;190;p16"/>
          <p:cNvSpPr txBox="1"/>
          <p:nvPr/>
        </p:nvSpPr>
        <p:spPr>
          <a:xfrm>
            <a:off x="962025" y="2798266"/>
            <a:ext cx="3817999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UDP 4500:</a:t>
            </a:r>
            <a:r>
              <a:rPr b="0" i="0" lang="en-US" sz="975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NAT-T contra quebra de portas.</a:t>
            </a:r>
            <a:endParaRPr/>
          </a:p>
        </p:txBody>
      </p:sp>
      <p:sp>
        <p:nvSpPr>
          <p:cNvPr id="191" name="Google Shape;191;p16"/>
          <p:cNvSpPr txBox="1"/>
          <p:nvPr/>
        </p:nvSpPr>
        <p:spPr>
          <a:xfrm>
            <a:off x="962025" y="2988766"/>
            <a:ext cx="3817999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Credencial PSK:</a:t>
            </a:r>
            <a:r>
              <a:rPr b="0" i="0" lang="en-US" sz="975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Permissão restrita chmod 600.</a:t>
            </a:r>
            <a:endParaRPr/>
          </a:p>
        </p:txBody>
      </p:sp>
      <p:sp>
        <p:nvSpPr>
          <p:cNvPr id="192" name="Google Shape;192;p16"/>
          <p:cNvSpPr txBox="1"/>
          <p:nvPr/>
        </p:nvSpPr>
        <p:spPr>
          <a:xfrm>
            <a:off x="4568874" y="2341066"/>
            <a:ext cx="4008899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Algoritmo &amp; Cifra IKE</a:t>
            </a:r>
            <a:endParaRPr/>
          </a:p>
        </p:txBody>
      </p:sp>
      <p:sp>
        <p:nvSpPr>
          <p:cNvPr id="193" name="Google Shape;193;p16"/>
          <p:cNvSpPr txBox="1"/>
          <p:nvPr/>
        </p:nvSpPr>
        <p:spPr>
          <a:xfrm>
            <a:off x="4568874" y="2607766"/>
            <a:ext cx="3817999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Confidencialidade:</a:t>
            </a:r>
            <a:r>
              <a:rPr b="0" i="0" lang="en-US" sz="975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AES-CBC-256 no controle.</a:t>
            </a:r>
            <a:endParaRPr/>
          </a:p>
        </p:txBody>
      </p:sp>
      <p:sp>
        <p:nvSpPr>
          <p:cNvPr id="194" name="Google Shape;194;p16"/>
          <p:cNvSpPr txBox="1"/>
          <p:nvPr/>
        </p:nvSpPr>
        <p:spPr>
          <a:xfrm>
            <a:off x="4568874" y="2798266"/>
            <a:ext cx="3817999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Integridade:</a:t>
            </a:r>
            <a:r>
              <a:rPr b="0" i="0" lang="en-US" sz="975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HMAC-SHA2-256 anti-adulteração.</a:t>
            </a:r>
            <a:endParaRPr/>
          </a:p>
        </p:txBody>
      </p:sp>
      <p:sp>
        <p:nvSpPr>
          <p:cNvPr id="195" name="Google Shape;195;p16"/>
          <p:cNvSpPr txBox="1"/>
          <p:nvPr/>
        </p:nvSpPr>
        <p:spPr>
          <a:xfrm>
            <a:off x="4568874" y="2988766"/>
            <a:ext cx="3817999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Diffie-Hellman:</a:t>
            </a:r>
            <a:r>
              <a:rPr b="0" i="0" lang="en-US" sz="975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MODP-1024 para chave secreta.</a:t>
            </a:r>
            <a:endParaRPr/>
          </a:p>
        </p:txBody>
      </p:sp>
      <p:sp>
        <p:nvSpPr>
          <p:cNvPr id="196" name="Google Shape;196;p16"/>
          <p:cNvSpPr txBox="1"/>
          <p:nvPr/>
        </p:nvSpPr>
        <p:spPr>
          <a:xfrm>
            <a:off x="8175724" y="2341066"/>
            <a:ext cx="4008899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Ciclo de Renovação (Rekey)</a:t>
            </a:r>
            <a:endParaRPr/>
          </a:p>
        </p:txBody>
      </p:sp>
      <p:sp>
        <p:nvSpPr>
          <p:cNvPr id="197" name="Google Shape;197;p16"/>
          <p:cNvSpPr txBox="1"/>
          <p:nvPr/>
        </p:nvSpPr>
        <p:spPr>
          <a:xfrm>
            <a:off x="8175724" y="2607766"/>
            <a:ext cx="3817999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Tempo de Vida:</a:t>
            </a:r>
            <a:r>
              <a:rPr b="0" i="0" lang="en-US" sz="975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rekey_time = 3600s (1 hora).</a:t>
            </a:r>
            <a:endParaRPr/>
          </a:p>
        </p:txBody>
      </p:sp>
      <p:sp>
        <p:nvSpPr>
          <p:cNvPr id="198" name="Google Shape;198;p16"/>
          <p:cNvSpPr txBox="1"/>
          <p:nvPr/>
        </p:nvSpPr>
        <p:spPr>
          <a:xfrm>
            <a:off x="8175724" y="2798266"/>
            <a:ext cx="3817999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Mitigação:</a:t>
            </a:r>
            <a:r>
              <a:rPr b="0" i="0" lang="en-US" sz="975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Encurta a janela de criptoanálise.</a:t>
            </a:r>
            <a:endParaRPr/>
          </a:p>
        </p:txBody>
      </p:sp>
      <p:sp>
        <p:nvSpPr>
          <p:cNvPr id="199" name="Google Shape;199;p16"/>
          <p:cNvSpPr txBox="1"/>
          <p:nvPr/>
        </p:nvSpPr>
        <p:spPr>
          <a:xfrm>
            <a:off x="8175724" y="2988766"/>
            <a:ext cx="3817999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Alta Disponibilidade:</a:t>
            </a:r>
            <a:r>
              <a:rPr b="0" i="0" lang="en-US" sz="975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Sem queda de sessão.</a:t>
            </a:r>
            <a:endParaRPr/>
          </a:p>
        </p:txBody>
      </p:sp>
      <p:sp>
        <p:nvSpPr>
          <p:cNvPr id="200" name="Google Shape;200;p16"/>
          <p:cNvSpPr txBox="1"/>
          <p:nvPr/>
        </p:nvSpPr>
        <p:spPr>
          <a:xfrm>
            <a:off x="1562100" y="3612653"/>
            <a:ext cx="52506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16"/>
          <p:cNvSpPr txBox="1"/>
          <p:nvPr/>
        </p:nvSpPr>
        <p:spPr>
          <a:xfrm>
            <a:off x="9210675" y="3622178"/>
            <a:ext cx="2028825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38BDF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Portas 500/4500 • ESTABLISHED</a:t>
            </a:r>
            <a:endParaRPr/>
          </a:p>
        </p:txBody>
      </p:sp>
      <p:pic>
        <p:nvPicPr>
          <p:cNvPr id="202" name="Google Shape;202;p16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800100" y="3436450"/>
            <a:ext cx="10630050" cy="133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17"/>
          <p:cNvSpPr/>
          <p:nvPr/>
        </p:nvSpPr>
        <p:spPr>
          <a:xfrm>
            <a:off x="762000" y="904875"/>
            <a:ext cx="10668000" cy="563760"/>
          </a:xfrm>
          <a:prstGeom prst="roundRect">
            <a:avLst>
              <a:gd fmla="val 13516" name="adj"/>
            </a:avLst>
          </a:prstGeom>
          <a:solidFill>
            <a:srgbClr val="F8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17"/>
          <p:cNvSpPr/>
          <p:nvPr/>
        </p:nvSpPr>
        <p:spPr>
          <a:xfrm>
            <a:off x="762000" y="904875"/>
            <a:ext cx="38100" cy="56376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17"/>
          <p:cNvSpPr/>
          <p:nvPr/>
        </p:nvSpPr>
        <p:spPr>
          <a:xfrm>
            <a:off x="762000" y="1582935"/>
            <a:ext cx="3467100" cy="1285875"/>
          </a:xfrm>
          <a:prstGeom prst="roundRect">
            <a:avLst>
              <a:gd fmla="val 7407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17"/>
          <p:cNvSpPr/>
          <p:nvPr/>
        </p:nvSpPr>
        <p:spPr>
          <a:xfrm>
            <a:off x="4362450" y="1582935"/>
            <a:ext cx="3467100" cy="1285875"/>
          </a:xfrm>
          <a:prstGeom prst="roundRect">
            <a:avLst>
              <a:gd fmla="val 7407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17"/>
          <p:cNvSpPr/>
          <p:nvPr/>
        </p:nvSpPr>
        <p:spPr>
          <a:xfrm>
            <a:off x="7962900" y="1582935"/>
            <a:ext cx="3467100" cy="1285875"/>
          </a:xfrm>
          <a:prstGeom prst="roundRect">
            <a:avLst>
              <a:gd fmla="val 7407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17"/>
          <p:cNvSpPr/>
          <p:nvPr/>
        </p:nvSpPr>
        <p:spPr>
          <a:xfrm>
            <a:off x="762000" y="2964060"/>
            <a:ext cx="5267325" cy="863351"/>
          </a:xfrm>
          <a:prstGeom prst="roundRect">
            <a:avLst>
              <a:gd fmla="val 8826" name="adj"/>
            </a:avLst>
          </a:prstGeom>
          <a:solidFill>
            <a:srgbClr val="F0F9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17"/>
          <p:cNvSpPr/>
          <p:nvPr/>
        </p:nvSpPr>
        <p:spPr>
          <a:xfrm>
            <a:off x="6162675" y="2964060"/>
            <a:ext cx="5267325" cy="863351"/>
          </a:xfrm>
          <a:prstGeom prst="roundRect">
            <a:avLst>
              <a:gd fmla="val 8826" name="adj"/>
            </a:avLst>
          </a:prstGeom>
          <a:solidFill>
            <a:srgbClr val="F0F9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17"/>
          <p:cNvSpPr/>
          <p:nvPr/>
        </p:nvSpPr>
        <p:spPr>
          <a:xfrm>
            <a:off x="762000" y="3817887"/>
            <a:ext cx="5267325" cy="9525"/>
          </a:xfrm>
          <a:prstGeom prst="rect">
            <a:avLst/>
          </a:prstGeom>
          <a:solidFill>
            <a:srgbClr val="BAE6F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17"/>
          <p:cNvSpPr/>
          <p:nvPr/>
        </p:nvSpPr>
        <p:spPr>
          <a:xfrm>
            <a:off x="762000" y="2964060"/>
            <a:ext cx="5267325" cy="9525"/>
          </a:xfrm>
          <a:prstGeom prst="rect">
            <a:avLst/>
          </a:prstGeom>
          <a:solidFill>
            <a:srgbClr val="BAE6F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17"/>
          <p:cNvSpPr/>
          <p:nvPr/>
        </p:nvSpPr>
        <p:spPr>
          <a:xfrm>
            <a:off x="762000" y="2964060"/>
            <a:ext cx="38100" cy="863351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17"/>
          <p:cNvSpPr/>
          <p:nvPr/>
        </p:nvSpPr>
        <p:spPr>
          <a:xfrm>
            <a:off x="6019800" y="2964060"/>
            <a:ext cx="9525" cy="863351"/>
          </a:xfrm>
          <a:prstGeom prst="rect">
            <a:avLst/>
          </a:prstGeom>
          <a:solidFill>
            <a:srgbClr val="BAE6F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17"/>
          <p:cNvSpPr/>
          <p:nvPr/>
        </p:nvSpPr>
        <p:spPr>
          <a:xfrm>
            <a:off x="6162675" y="3817887"/>
            <a:ext cx="5267325" cy="9525"/>
          </a:xfrm>
          <a:prstGeom prst="rect">
            <a:avLst/>
          </a:prstGeom>
          <a:solidFill>
            <a:srgbClr val="BAE6F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17"/>
          <p:cNvSpPr/>
          <p:nvPr/>
        </p:nvSpPr>
        <p:spPr>
          <a:xfrm>
            <a:off x="6162675" y="2964060"/>
            <a:ext cx="5267325" cy="9525"/>
          </a:xfrm>
          <a:prstGeom prst="rect">
            <a:avLst/>
          </a:prstGeom>
          <a:solidFill>
            <a:srgbClr val="BAE6F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17"/>
          <p:cNvSpPr/>
          <p:nvPr/>
        </p:nvSpPr>
        <p:spPr>
          <a:xfrm>
            <a:off x="6162675" y="2964060"/>
            <a:ext cx="38100" cy="863351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17"/>
          <p:cNvSpPr/>
          <p:nvPr/>
        </p:nvSpPr>
        <p:spPr>
          <a:xfrm>
            <a:off x="11420475" y="2964060"/>
            <a:ext cx="9525" cy="863351"/>
          </a:xfrm>
          <a:prstGeom prst="rect">
            <a:avLst/>
          </a:prstGeom>
          <a:solidFill>
            <a:srgbClr val="BAE6F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7"/>
          <p:cNvSpPr/>
          <p:nvPr/>
        </p:nvSpPr>
        <p:spPr>
          <a:xfrm>
            <a:off x="9286875" y="4070300"/>
            <a:ext cx="1952625" cy="171450"/>
          </a:xfrm>
          <a:prstGeom prst="roundRect">
            <a:avLst>
              <a:gd fmla="val 22222" name="adj"/>
            </a:avLst>
          </a:prstGeom>
          <a:solidFill>
            <a:srgbClr val="13283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223" name="Google Shape;223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52500" y="4056012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4" name="Google Shape;224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42975" y="1744860"/>
            <a:ext cx="152400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5" name="Google Shape;225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543425" y="1744860"/>
            <a:ext cx="171450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6" name="Google Shape;226;p1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43875" y="1744860"/>
            <a:ext cx="171450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7" name="Google Shape;227;p1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33450" y="3309937"/>
            <a:ext cx="171450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8" name="Google Shape;228;p1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334125" y="3309937"/>
            <a:ext cx="171450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9" name="Google Shape;229;p17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1047750" y="4160787"/>
            <a:ext cx="190500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17"/>
          <p:cNvSpPr txBox="1"/>
          <p:nvPr/>
        </p:nvSpPr>
        <p:spPr>
          <a:xfrm>
            <a:off x="762000" y="266700"/>
            <a:ext cx="114300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284C7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ENGENHARIA DE DADOS &amp; OPERAÇÃO</a:t>
            </a:r>
            <a:endParaRPr/>
          </a:p>
        </p:txBody>
      </p:sp>
      <p:sp>
        <p:nvSpPr>
          <p:cNvPr id="231" name="Google Shape;231;p17"/>
          <p:cNvSpPr txBox="1"/>
          <p:nvPr/>
        </p:nvSpPr>
        <p:spPr>
          <a:xfrm>
            <a:off x="762000" y="476250"/>
            <a:ext cx="1143000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Fase 2 na Prática: O Túnel Filho em Produção (Child SA)</a:t>
            </a:r>
            <a:endParaRPr/>
          </a:p>
        </p:txBody>
      </p:sp>
      <p:sp>
        <p:nvSpPr>
          <p:cNvPr id="232" name="Google Shape;232;p17"/>
          <p:cNvSpPr txBox="1"/>
          <p:nvPr/>
        </p:nvSpPr>
        <p:spPr>
          <a:xfrm>
            <a:off x="952500" y="1000125"/>
            <a:ext cx="10420350" cy="3732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284C7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Operação do Plano de Dados:</a:t>
            </a:r>
            <a:r>
              <a:rPr b="0" i="0" lang="en-US" sz="1050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O Túnel Filho é onde trafegam os pacotes reais entre as sub-redes das LANs corporativas, protegidos pelo protocolo </a:t>
            </a:r>
            <a:r>
              <a:rPr b="1" i="0" lang="en-US" sz="1050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ESP em modo Tunnel</a:t>
            </a:r>
            <a:r>
              <a:rPr b="0" i="0" lang="en-US" sz="1050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. A suíte </a:t>
            </a:r>
            <a:r>
              <a:rPr b="1" i="0" lang="en-US" sz="1050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AES-256 + HMAC-SHA256</a:t>
            </a:r>
            <a:r>
              <a:rPr b="0" i="0" lang="en-US" sz="1050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garante integridade e sigilo contínuos, com políticas de tráfego injetadas diretamente na tabela XFRM do Kernel.</a:t>
            </a:r>
            <a:endParaRPr/>
          </a:p>
        </p:txBody>
      </p:sp>
      <p:sp>
        <p:nvSpPr>
          <p:cNvPr id="233" name="Google Shape;233;p17"/>
          <p:cNvSpPr txBox="1"/>
          <p:nvPr/>
        </p:nvSpPr>
        <p:spPr>
          <a:xfrm>
            <a:off x="942975" y="1973460"/>
            <a:ext cx="4075509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Cifra ESP &amp; Modo</a:t>
            </a:r>
            <a:endParaRPr/>
          </a:p>
        </p:txBody>
      </p:sp>
      <p:sp>
        <p:nvSpPr>
          <p:cNvPr id="234" name="Google Shape;234;p17"/>
          <p:cNvSpPr txBox="1"/>
          <p:nvPr/>
        </p:nvSpPr>
        <p:spPr>
          <a:xfrm>
            <a:off x="942975" y="2211585"/>
            <a:ext cx="3881437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Modo:</a:t>
            </a:r>
            <a:r>
              <a:rPr b="0" i="0" lang="en-US" sz="975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Tunnel (cabeçalho IP ocultado).</a:t>
            </a:r>
            <a:endParaRPr/>
          </a:p>
        </p:txBody>
      </p:sp>
      <p:sp>
        <p:nvSpPr>
          <p:cNvPr id="235" name="Google Shape;235;p17"/>
          <p:cNvSpPr txBox="1"/>
          <p:nvPr/>
        </p:nvSpPr>
        <p:spPr>
          <a:xfrm>
            <a:off x="942975" y="2392560"/>
            <a:ext cx="3881437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Suite:</a:t>
            </a:r>
            <a:r>
              <a:rPr b="0" i="0" lang="en-US" sz="975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aes256-sha256-modp1024.</a:t>
            </a:r>
            <a:endParaRPr/>
          </a:p>
        </p:txBody>
      </p:sp>
      <p:sp>
        <p:nvSpPr>
          <p:cNvPr id="236" name="Google Shape;236;p17"/>
          <p:cNvSpPr txBox="1"/>
          <p:nvPr/>
        </p:nvSpPr>
        <p:spPr>
          <a:xfrm>
            <a:off x="942975" y="2573535"/>
            <a:ext cx="3881437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Vida útil:</a:t>
            </a:r>
            <a:r>
              <a:rPr b="0" i="0" lang="en-US" sz="975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rekey_time = 86400s (24h).</a:t>
            </a:r>
            <a:endParaRPr/>
          </a:p>
        </p:txBody>
      </p:sp>
      <p:sp>
        <p:nvSpPr>
          <p:cNvPr id="237" name="Google Shape;237;p17"/>
          <p:cNvSpPr txBox="1"/>
          <p:nvPr/>
        </p:nvSpPr>
        <p:spPr>
          <a:xfrm>
            <a:off x="4543425" y="1973460"/>
            <a:ext cx="4075509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Seletores de Tráfego</a:t>
            </a:r>
            <a:endParaRPr/>
          </a:p>
        </p:txBody>
      </p:sp>
      <p:sp>
        <p:nvSpPr>
          <p:cNvPr id="238" name="Google Shape;238;p17"/>
          <p:cNvSpPr txBox="1"/>
          <p:nvPr/>
        </p:nvSpPr>
        <p:spPr>
          <a:xfrm>
            <a:off x="4543425" y="2211585"/>
            <a:ext cx="3881437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Local TS:</a:t>
            </a:r>
            <a:r>
              <a:rPr b="0" i="0" lang="en-US" sz="975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192.168.10.0/24 (LAN Matriz).</a:t>
            </a:r>
            <a:endParaRPr/>
          </a:p>
        </p:txBody>
      </p:sp>
      <p:sp>
        <p:nvSpPr>
          <p:cNvPr id="239" name="Google Shape;239;p17"/>
          <p:cNvSpPr txBox="1"/>
          <p:nvPr/>
        </p:nvSpPr>
        <p:spPr>
          <a:xfrm>
            <a:off x="4543425" y="2392560"/>
            <a:ext cx="3881437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Remote TS:</a:t>
            </a:r>
            <a:r>
              <a:rPr b="0" i="0" lang="en-US" sz="975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192.168.20.0/24 (LAN Filial).</a:t>
            </a:r>
            <a:endParaRPr/>
          </a:p>
        </p:txBody>
      </p:sp>
      <p:sp>
        <p:nvSpPr>
          <p:cNvPr id="240" name="Google Shape;240;p17"/>
          <p:cNvSpPr txBox="1"/>
          <p:nvPr/>
        </p:nvSpPr>
        <p:spPr>
          <a:xfrm>
            <a:off x="4543425" y="2573535"/>
            <a:ext cx="3881437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Roteamento:</a:t>
            </a:r>
            <a:r>
              <a:rPr b="0" i="0" lang="en-US" sz="975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Políticas XFRM no Kernel.</a:t>
            </a:r>
            <a:endParaRPr/>
          </a:p>
        </p:txBody>
      </p:sp>
      <p:sp>
        <p:nvSpPr>
          <p:cNvPr id="241" name="Google Shape;241;p17"/>
          <p:cNvSpPr txBox="1"/>
          <p:nvPr/>
        </p:nvSpPr>
        <p:spPr>
          <a:xfrm>
            <a:off x="8143875" y="1973460"/>
            <a:ext cx="4048125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Ajustes de Desempenho</a:t>
            </a:r>
            <a:endParaRPr/>
          </a:p>
        </p:txBody>
      </p:sp>
      <p:sp>
        <p:nvSpPr>
          <p:cNvPr id="242" name="Google Shape;242;p17"/>
          <p:cNvSpPr txBox="1"/>
          <p:nvPr/>
        </p:nvSpPr>
        <p:spPr>
          <a:xfrm>
            <a:off x="8143875" y="2211585"/>
            <a:ext cx="3881437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MSS Clamping:</a:t>
            </a:r>
            <a:r>
              <a:rPr b="0" i="0" lang="en-US" sz="975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Prevenção de fragmentação.</a:t>
            </a:r>
            <a:endParaRPr/>
          </a:p>
        </p:txBody>
      </p:sp>
      <p:sp>
        <p:nvSpPr>
          <p:cNvPr id="243" name="Google Shape;243;p17"/>
          <p:cNvSpPr txBox="1"/>
          <p:nvPr/>
        </p:nvSpPr>
        <p:spPr>
          <a:xfrm>
            <a:off x="8143875" y="2392560"/>
            <a:ext cx="3881437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Replay Window:</a:t>
            </a:r>
            <a:r>
              <a:rPr b="0" i="0" lang="en-US" sz="975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Proteção contra replay attacks.</a:t>
            </a:r>
            <a:endParaRPr/>
          </a:p>
        </p:txBody>
      </p:sp>
      <p:sp>
        <p:nvSpPr>
          <p:cNvPr id="244" name="Google Shape;244;p17"/>
          <p:cNvSpPr txBox="1"/>
          <p:nvPr/>
        </p:nvSpPr>
        <p:spPr>
          <a:xfrm>
            <a:off x="8143875" y="2573535"/>
            <a:ext cx="3881437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Isolamento:</a:t>
            </a:r>
            <a:r>
              <a:rPr b="0" i="0" lang="en-US" sz="975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UP/DOWN scripts nativos.</a:t>
            </a:r>
            <a:endParaRPr/>
          </a:p>
        </p:txBody>
      </p:sp>
      <p:sp>
        <p:nvSpPr>
          <p:cNvPr id="245" name="Google Shape;245;p17"/>
          <p:cNvSpPr txBox="1"/>
          <p:nvPr/>
        </p:nvSpPr>
        <p:spPr>
          <a:xfrm>
            <a:off x="1485900" y="4270325"/>
            <a:ext cx="107061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17"/>
          <p:cNvSpPr txBox="1"/>
          <p:nvPr/>
        </p:nvSpPr>
        <p:spPr>
          <a:xfrm>
            <a:off x="1219200" y="3059310"/>
            <a:ext cx="5834062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0369A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Observação 1: Definição de Lado Ativo × Passivo</a:t>
            </a:r>
            <a:endParaRPr/>
          </a:p>
        </p:txBody>
      </p:sp>
      <p:sp>
        <p:nvSpPr>
          <p:cNvPr id="247" name="Google Shape;247;p17"/>
          <p:cNvSpPr txBox="1"/>
          <p:nvPr/>
        </p:nvSpPr>
        <p:spPr>
          <a:xfrm>
            <a:off x="1219200" y="3230760"/>
            <a:ext cx="4762500" cy="5014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497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Permite configurar a Matriz como </a:t>
            </a:r>
            <a:r>
              <a:rPr b="1" i="0" lang="en-US" sz="975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iniciadora ativa</a:t>
            </a:r>
            <a:r>
              <a:rPr b="0" i="0" lang="en-US" sz="975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(start_action = start) e a Filial como </a:t>
            </a:r>
            <a:r>
              <a:rPr b="1" i="0" lang="en-US" sz="975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passiva sob demanda</a:t>
            </a:r>
            <a:r>
              <a:rPr b="0" i="0" lang="en-US" sz="975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(start_action = trap), eliminando concorrência ou duplicação de SAs.</a:t>
            </a:r>
            <a:endParaRPr/>
          </a:p>
        </p:txBody>
      </p:sp>
      <p:sp>
        <p:nvSpPr>
          <p:cNvPr id="248" name="Google Shape;248;p17"/>
          <p:cNvSpPr txBox="1"/>
          <p:nvPr/>
        </p:nvSpPr>
        <p:spPr>
          <a:xfrm>
            <a:off x="6619875" y="3059310"/>
            <a:ext cx="5572125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0369A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Observação 2: Governança do Restart pós-Queda (DPD)</a:t>
            </a:r>
            <a:endParaRPr/>
          </a:p>
        </p:txBody>
      </p:sp>
      <p:sp>
        <p:nvSpPr>
          <p:cNvPr id="249" name="Google Shape;249;p17"/>
          <p:cNvSpPr txBox="1"/>
          <p:nvPr/>
        </p:nvSpPr>
        <p:spPr>
          <a:xfrm>
            <a:off x="6619875" y="3230760"/>
            <a:ext cx="4762500" cy="5014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497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É possível eleger exatamente qual ponta assumirá a responsabilidade de executar a reconexão automática com dpd_action = restart (ou limpar com clear), evitando loops de renegociação simultânea.</a:t>
            </a:r>
            <a:endParaRPr/>
          </a:p>
        </p:txBody>
      </p:sp>
      <p:sp>
        <p:nvSpPr>
          <p:cNvPr id="250" name="Google Shape;250;p17"/>
          <p:cNvSpPr txBox="1"/>
          <p:nvPr/>
        </p:nvSpPr>
        <p:spPr>
          <a:xfrm>
            <a:off x="1485900" y="4079825"/>
            <a:ext cx="55839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p17"/>
          <p:cNvSpPr txBox="1"/>
          <p:nvPr/>
        </p:nvSpPr>
        <p:spPr>
          <a:xfrm>
            <a:off x="9363075" y="4089350"/>
            <a:ext cx="1895475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25" u="none" cap="none" strike="noStrike">
                <a:solidFill>
                  <a:srgbClr val="38BDF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ESP INSTALLED • Modo Tunnel</a:t>
            </a:r>
            <a:endParaRPr/>
          </a:p>
        </p:txBody>
      </p:sp>
      <p:pic>
        <p:nvPicPr>
          <p:cNvPr id="252" name="Google Shape;252;p17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42950" y="4065525"/>
            <a:ext cx="10706100" cy="1647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120"/>
        </a:solidFill>
      </p:bgPr>
    </p:bg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18"/>
          <p:cNvSpPr/>
          <p:nvPr/>
        </p:nvSpPr>
        <p:spPr>
          <a:xfrm>
            <a:off x="733425" y="1009947"/>
            <a:ext cx="10820400" cy="827700"/>
          </a:xfrm>
          <a:prstGeom prst="roundRect">
            <a:avLst>
              <a:gd fmla="val 9206" name="adj"/>
            </a:avLst>
          </a:prstGeom>
          <a:solidFill>
            <a:srgbClr val="0F172A"/>
          </a:solidFill>
          <a:ln cap="flat" cmpd="sng" w="9525">
            <a:solidFill>
              <a:srgbClr val="1E29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18"/>
          <p:cNvSpPr/>
          <p:nvPr/>
        </p:nvSpPr>
        <p:spPr>
          <a:xfrm>
            <a:off x="685800" y="1912226"/>
            <a:ext cx="10820400" cy="4004400"/>
          </a:xfrm>
          <a:prstGeom prst="roundRect">
            <a:avLst>
              <a:gd fmla="val 5714" name="adj"/>
            </a:avLst>
          </a:prstGeom>
          <a:solidFill>
            <a:srgbClr val="030712"/>
          </a:solidFill>
          <a:ln cap="flat" cmpd="sng" w="9525">
            <a:solidFill>
              <a:srgbClr val="1E29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x’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18"/>
          <p:cNvSpPr/>
          <p:nvPr/>
        </p:nvSpPr>
        <p:spPr>
          <a:xfrm>
            <a:off x="866775" y="2050072"/>
            <a:ext cx="10458600" cy="3866700"/>
          </a:xfrm>
          <a:prstGeom prst="roundRect">
            <a:avLst>
              <a:gd fmla="val 6000" name="adj"/>
            </a:avLst>
          </a:prstGeom>
          <a:solidFill>
            <a:srgbClr val="0F17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18"/>
          <p:cNvSpPr/>
          <p:nvPr/>
        </p:nvSpPr>
        <p:spPr>
          <a:xfrm>
            <a:off x="685800" y="6067276"/>
            <a:ext cx="3638550" cy="485775"/>
          </a:xfrm>
          <a:prstGeom prst="roundRect">
            <a:avLst>
              <a:gd fmla="val 15686" name="adj"/>
            </a:avLst>
          </a:prstGeom>
          <a:solidFill>
            <a:srgbClr val="0F172A"/>
          </a:solidFill>
          <a:ln cap="flat" cmpd="sng" w="9525">
            <a:solidFill>
              <a:srgbClr val="1E29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18"/>
          <p:cNvSpPr/>
          <p:nvPr/>
        </p:nvSpPr>
        <p:spPr>
          <a:xfrm>
            <a:off x="4457700" y="6067276"/>
            <a:ext cx="4114800" cy="485775"/>
          </a:xfrm>
          <a:prstGeom prst="roundRect">
            <a:avLst>
              <a:gd fmla="val 15686" name="adj"/>
            </a:avLst>
          </a:prstGeom>
          <a:solidFill>
            <a:srgbClr val="0F172A"/>
          </a:solidFill>
          <a:ln cap="flat" cmpd="sng" w="9525">
            <a:solidFill>
              <a:srgbClr val="1E29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18"/>
          <p:cNvSpPr/>
          <p:nvPr/>
        </p:nvSpPr>
        <p:spPr>
          <a:xfrm>
            <a:off x="8705850" y="6081563"/>
            <a:ext cx="2800350" cy="457200"/>
          </a:xfrm>
          <a:prstGeom prst="roundRect">
            <a:avLst>
              <a:gd fmla="val 16666" name="adj"/>
            </a:avLst>
          </a:prstGeom>
          <a:solidFill>
            <a:srgbClr val="151D2E"/>
          </a:solidFill>
          <a:ln cap="flat" cmpd="sng" w="9525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18"/>
          <p:cNvSpPr/>
          <p:nvPr/>
        </p:nvSpPr>
        <p:spPr>
          <a:xfrm>
            <a:off x="7867650" y="352425"/>
            <a:ext cx="1323975" cy="476250"/>
          </a:xfrm>
          <a:prstGeom prst="roundRect">
            <a:avLst>
              <a:gd fmla="val 16000" name="adj"/>
            </a:avLst>
          </a:prstGeom>
          <a:solidFill>
            <a:srgbClr val="102236"/>
          </a:solidFill>
          <a:ln cap="flat" cmpd="sng" w="9525">
            <a:solidFill>
              <a:srgbClr val="1945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18"/>
          <p:cNvSpPr/>
          <p:nvPr/>
        </p:nvSpPr>
        <p:spPr>
          <a:xfrm>
            <a:off x="9305925" y="352425"/>
            <a:ext cx="2200275" cy="476250"/>
          </a:xfrm>
          <a:prstGeom prst="roundRect">
            <a:avLst>
              <a:gd fmla="val 16000" name="adj"/>
            </a:avLst>
          </a:prstGeom>
          <a:solidFill>
            <a:srgbClr val="11262A"/>
          </a:solidFill>
          <a:ln cap="flat" cmpd="sng" w="9525">
            <a:solidFill>
              <a:srgbClr val="1E4F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18"/>
          <p:cNvSpPr/>
          <p:nvPr/>
        </p:nvSpPr>
        <p:spPr>
          <a:xfrm>
            <a:off x="8772525" y="3628578"/>
            <a:ext cx="2552700" cy="171450"/>
          </a:xfrm>
          <a:prstGeom prst="roundRect">
            <a:avLst>
              <a:gd fmla="val 22222" name="adj"/>
            </a:avLst>
          </a:prstGeom>
          <a:solidFill>
            <a:srgbClr val="0F17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18"/>
          <p:cNvSpPr/>
          <p:nvPr/>
        </p:nvSpPr>
        <p:spPr>
          <a:xfrm>
            <a:off x="866775" y="3666678"/>
            <a:ext cx="95250" cy="95250"/>
          </a:xfrm>
          <a:prstGeom prst="roundRect">
            <a:avLst>
              <a:gd fmla="val 50000" name="adj"/>
            </a:avLst>
          </a:prstGeom>
          <a:solidFill>
            <a:srgbClr val="EF444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18"/>
          <p:cNvSpPr/>
          <p:nvPr/>
        </p:nvSpPr>
        <p:spPr>
          <a:xfrm>
            <a:off x="1019175" y="3666678"/>
            <a:ext cx="95250" cy="95250"/>
          </a:xfrm>
          <a:prstGeom prst="roundRect">
            <a:avLst>
              <a:gd fmla="val 50000" name="adj"/>
            </a:avLst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18"/>
          <p:cNvSpPr/>
          <p:nvPr/>
        </p:nvSpPr>
        <p:spPr>
          <a:xfrm>
            <a:off x="1171575" y="3666678"/>
            <a:ext cx="95250" cy="95250"/>
          </a:xfrm>
          <a:prstGeom prst="roundRect">
            <a:avLst>
              <a:gd fmla="val 50000" name="adj"/>
            </a:avLst>
          </a:prstGeom>
          <a:solidFill>
            <a:srgbClr val="10B98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269" name="Google Shape;269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8675" y="6195863"/>
            <a:ext cx="219075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0" name="Google Shape;270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600575" y="6205388"/>
            <a:ext cx="180975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1" name="Google Shape;271;p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848725" y="6214913"/>
            <a:ext cx="190500" cy="1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272" name="Google Shape;272;p18"/>
          <p:cNvSpPr txBox="1"/>
          <p:nvPr/>
        </p:nvSpPr>
        <p:spPr>
          <a:xfrm>
            <a:off x="866775" y="1133809"/>
            <a:ext cx="10553700" cy="63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5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38BDF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Conclusão de Segurança em Ambientes Distintos:</a:t>
            </a:r>
            <a:r>
              <a:rPr b="0" i="0" lang="en-US" sz="1050" u="none" cap="none" strike="noStrik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050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túnel IPsec IKEv2 atua de forma agnóstica à infraestrutura física, blindando o tráfego corporativo através de redes públicas e nuvens híbridas. A suíte AES-256 com HMAC-SHA256 e PFS garante confidencialidade e integridade absolutas de ponta a ponta, assegurando 0% de perda e total inviolabilidade da topologia interna</a:t>
            </a:r>
            <a:endParaRPr/>
          </a:p>
        </p:txBody>
      </p:sp>
      <p:sp>
        <p:nvSpPr>
          <p:cNvPr id="273" name="Google Shape;273;p18"/>
          <p:cNvSpPr txBox="1"/>
          <p:nvPr/>
        </p:nvSpPr>
        <p:spPr>
          <a:xfrm>
            <a:off x="685800" y="304800"/>
            <a:ext cx="7096125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38BDF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CONCLUSÃO &amp; VALIDAÇÃO OPERACIONAL</a:t>
            </a:r>
            <a:endParaRPr/>
          </a:p>
        </p:txBody>
      </p:sp>
      <p:sp>
        <p:nvSpPr>
          <p:cNvPr id="274" name="Google Shape;274;p18"/>
          <p:cNvSpPr txBox="1"/>
          <p:nvPr/>
        </p:nvSpPr>
        <p:spPr>
          <a:xfrm>
            <a:off x="685800" y="495300"/>
            <a:ext cx="7450931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Segurança Robusta em Ambientes Distintos</a:t>
            </a:r>
            <a:endParaRPr/>
          </a:p>
        </p:txBody>
      </p:sp>
      <p:sp>
        <p:nvSpPr>
          <p:cNvPr id="275" name="Google Shape;275;p18"/>
          <p:cNvSpPr txBox="1"/>
          <p:nvPr/>
        </p:nvSpPr>
        <p:spPr>
          <a:xfrm>
            <a:off x="8918975" y="1912228"/>
            <a:ext cx="24957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25" u="none" cap="none" strike="noStrike">
                <a:solidFill>
                  <a:srgbClr val="94A3B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Validação Operacional em Laboratório</a:t>
            </a:r>
            <a:endParaRPr/>
          </a:p>
        </p:txBody>
      </p:sp>
      <p:sp>
        <p:nvSpPr>
          <p:cNvPr id="276" name="Google Shape;276;p18"/>
          <p:cNvSpPr txBox="1"/>
          <p:nvPr/>
        </p:nvSpPr>
        <p:spPr>
          <a:xfrm>
            <a:off x="1019175" y="4562028"/>
            <a:ext cx="111729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18"/>
          <p:cNvSpPr txBox="1"/>
          <p:nvPr/>
        </p:nvSpPr>
        <p:spPr>
          <a:xfrm>
            <a:off x="7724775" y="419100"/>
            <a:ext cx="1323975" cy="1238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2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Loss Rate</a:t>
            </a:r>
            <a:endParaRPr/>
          </a:p>
        </p:txBody>
      </p:sp>
      <p:sp>
        <p:nvSpPr>
          <p:cNvPr id="278" name="Google Shape;278;p18"/>
          <p:cNvSpPr txBox="1"/>
          <p:nvPr/>
        </p:nvSpPr>
        <p:spPr>
          <a:xfrm>
            <a:off x="7724775" y="542925"/>
            <a:ext cx="1323975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38BDF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0% Pkt Loss</a:t>
            </a:r>
            <a:endParaRPr/>
          </a:p>
        </p:txBody>
      </p:sp>
      <p:sp>
        <p:nvSpPr>
          <p:cNvPr id="279" name="Google Shape;279;p18"/>
          <p:cNvSpPr txBox="1"/>
          <p:nvPr/>
        </p:nvSpPr>
        <p:spPr>
          <a:xfrm>
            <a:off x="8970168" y="419100"/>
            <a:ext cx="2393156" cy="1238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2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Criptografia</a:t>
            </a:r>
            <a:endParaRPr/>
          </a:p>
        </p:txBody>
      </p:sp>
      <p:sp>
        <p:nvSpPr>
          <p:cNvPr id="280" name="Google Shape;280;p18"/>
          <p:cNvSpPr txBox="1"/>
          <p:nvPr/>
        </p:nvSpPr>
        <p:spPr>
          <a:xfrm>
            <a:off x="8970168" y="542925"/>
            <a:ext cx="2393156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4ADE80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AES-256 Homologado</a:t>
            </a:r>
            <a:endParaRPr/>
          </a:p>
        </p:txBody>
      </p:sp>
      <p:sp>
        <p:nvSpPr>
          <p:cNvPr id="281" name="Google Shape;281;p18"/>
          <p:cNvSpPr txBox="1"/>
          <p:nvPr/>
        </p:nvSpPr>
        <p:spPr>
          <a:xfrm>
            <a:off x="1162050" y="6172051"/>
            <a:ext cx="3583781" cy="1238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2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CÓDIGO &amp; SCRIPTS</a:t>
            </a:r>
            <a:endParaRPr/>
          </a:p>
        </p:txBody>
      </p:sp>
      <p:sp>
        <p:nvSpPr>
          <p:cNvPr id="282" name="Google Shape;282;p18"/>
          <p:cNvSpPr txBox="1"/>
          <p:nvPr/>
        </p:nvSpPr>
        <p:spPr>
          <a:xfrm>
            <a:off x="1162050" y="6295876"/>
            <a:ext cx="35838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18"/>
          <p:cNvSpPr txBox="1"/>
          <p:nvPr/>
        </p:nvSpPr>
        <p:spPr>
          <a:xfrm>
            <a:off x="4895850" y="6172051"/>
            <a:ext cx="4417218" cy="1238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2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DOC OFICIAL STRONGSWAN</a:t>
            </a:r>
            <a:endParaRPr/>
          </a:p>
        </p:txBody>
      </p:sp>
      <p:sp>
        <p:nvSpPr>
          <p:cNvPr id="284" name="Google Shape;284;p18"/>
          <p:cNvSpPr txBox="1"/>
          <p:nvPr/>
        </p:nvSpPr>
        <p:spPr>
          <a:xfrm>
            <a:off x="4895850" y="6295876"/>
            <a:ext cx="4417218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BD5E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docs.strongswan.org/docs/5.9/swanctl/swanctlConf.html</a:t>
            </a:r>
            <a:endParaRPr/>
          </a:p>
        </p:txBody>
      </p:sp>
      <p:sp>
        <p:nvSpPr>
          <p:cNvPr id="285" name="Google Shape;285;p18"/>
          <p:cNvSpPr txBox="1"/>
          <p:nvPr/>
        </p:nvSpPr>
        <p:spPr>
          <a:xfrm>
            <a:off x="9134475" y="6186338"/>
            <a:ext cx="1678781" cy="1238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25" u="none" cap="none" strike="noStrike">
                <a:solidFill>
                  <a:srgbClr val="4ADE80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ENTERPRISE READY</a:t>
            </a:r>
            <a:endParaRPr/>
          </a:p>
        </p:txBody>
      </p:sp>
      <p:sp>
        <p:nvSpPr>
          <p:cNvPr id="286" name="Google Shape;286;p18"/>
          <p:cNvSpPr txBox="1"/>
          <p:nvPr/>
        </p:nvSpPr>
        <p:spPr>
          <a:xfrm>
            <a:off x="9134475" y="6310163"/>
            <a:ext cx="1678781" cy="1238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2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IKEv2 • ESP • XFRM • NAT-T</a:t>
            </a:r>
            <a:endParaRPr/>
          </a:p>
        </p:txBody>
      </p:sp>
      <p:pic>
        <p:nvPicPr>
          <p:cNvPr id="287" name="Google Shape;287;p1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66625" y="2083925"/>
            <a:ext cx="10458600" cy="3762312"/>
          </a:xfrm>
          <a:prstGeom prst="rect">
            <a:avLst/>
          </a:prstGeom>
          <a:solidFill>
            <a:srgbClr val="0F172A"/>
          </a:solidFill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